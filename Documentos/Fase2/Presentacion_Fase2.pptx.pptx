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bUqi1QDmsPOgKrE4n2eL5UdO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" name="Google Shape;9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5" name="Google Shape;95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Apertura breve del equipo antes de entrar a los 3 temas: metodología, TRL y arquitectura. Recordar que el nombre de trabajo del producto es 'matches corporativos' — no cursos ni contenido tipo Moodle.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7" name="Google Shape;9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NICOLÁS (Scrum Master): explicar las 4 razones. La cuarta ahora tiene evidencia real: la migración a microservicios se hizo en 3 fases (sprints), no de una vez.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37" name="Google Shape;137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4" name="Google Shape;18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5" name="Google Shape;18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NICOLÁS continúa: roles del equipo y estado real de los sprints — 4 ejecutados y verificables por PR en GitHub, no solo planificados.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87" name="Google Shape;18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9" name="Google Shape;29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0" name="Google Shape;30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PATRICIO: TRL actual es 4, no 3 — subió un nivel real porque los componentes ya están integrados y funcionando juntos, verificado con 198 tests y demostrado en vivo a la clienta.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02" name="Google Shape;30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3" name="Google Shape;30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9" name="Google Shape;339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0" name="Google Shape;340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PATRICIO continúa: TRL objetivo sigue en 6, pero con honestidad sobre la condición — si no hay empresa piloto además de ENACTIVA, la meta baja a 5 en vez de forzar una afirmación sin evidencia.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342" name="Google Shape;342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3" name="Google Shape;343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8" name="Google Shape;378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9" name="Google Shape;379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BENJAMÍN abre arquitectura: los 4 microservicios, marcando claramente cuáles ya están construidos (auth, identity) y cuáles faltan (learning, matching) — no presentar todo como si ya estuviera terminado.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81" name="Google Shape;381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2" name="Google Shape;382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2" name="Google Shape;462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3" name="Google Shape;463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BENJAMÍN: recorrer las capas. Notar que son 3 bases de datos, no 4 — auth-service no tiene base propia, decisión tomada junto con Code para no partir la transacción atómica de alta de empresa entre dos servicios.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465" name="Google Shape;465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6" name="Google Shape;466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5" name="Google Shape;545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6" name="Google Shape;546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BENJAMÍN continúa: ser honestos en que el despliegue público es lo único de infraestructura que sigue pendiente — todo lo demás ya funciona en local, verificado.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548" name="Google Shape;548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9" name="Google Shape;549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8" name="Google Shape;60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09" name="Google Shape;60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BENJAMÍN cierra con el diagrama completo: recorrer de arriba hacia abajo, señalando explícitamente las etiquetas verdes (CONSTRUIDO) en auth-service e identity-service, y las grises (PENDIENTE) en learning-service y matching-service. Esta honestidad visual genera más confianza que mostrar todo como terminado.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611" name="Google Shape;61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2" name="Google Shape;61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0" name="Google Shape;63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1" name="Google Shape;63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GIOVANNI: decir la frase de apertura, luego las 4 razones. Si preguntan por riesgos, reconocerlos abiertamente — la migración ya está hecha y funcionando, eso es la mejor defensa posible.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633" name="Google Shape;63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4" name="Google Shape;63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3" name="Google Shape;68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84" name="Google Shape;68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GIOVANNI cierra: recapitular que las 3 decisiones están conectadas y que buena parte ya está ejecutada y verificada, no solo planificada. Abrir a preguntas.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686" name="Google Shape;68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7" name="Google Shape;68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4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4149725" y="339725"/>
            <a:ext cx="9607550" cy="9607550"/>
            <a:chOff x="0" y="0"/>
            <a:chExt cx="12810067" cy="12810067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2810067" cy="12810067"/>
            </a:xfrm>
            <a:custGeom>
              <a:rect b="b" l="l" r="r" t="t"/>
              <a:pathLst>
                <a:path extrusionOk="0"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034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3523" y="536222"/>
              <a:ext cx="11737622" cy="11737622"/>
            </a:xfrm>
            <a:custGeom>
              <a:rect b="b" l="l" r="r" t="t"/>
              <a:pathLst>
                <a:path extrusionOk="0"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034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43518" y="4036695"/>
              <a:ext cx="12566549" cy="4384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¡¡COMENZAMOS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 BREVE!!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4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13167360" y="-3017520"/>
            <a:ext cx="9601200" cy="9601200"/>
          </a:xfrm>
          <a:custGeom>
            <a:rect b="b" l="l" r="r" t="t"/>
            <a:pathLst>
              <a:path extrusionOk="0" h="12801600" w="12801600">
                <a:moveTo>
                  <a:pt x="0" y="6400800"/>
                </a:moveTo>
                <a:cubicBezTo>
                  <a:pt x="0" y="2865755"/>
                  <a:pt x="2865755" y="0"/>
                  <a:pt x="6400800" y="0"/>
                </a:cubicBezTo>
                <a:cubicBezTo>
                  <a:pt x="9935845" y="0"/>
                  <a:pt x="12801600" y="2865755"/>
                  <a:pt x="12801600" y="6400800"/>
                </a:cubicBezTo>
                <a:cubicBezTo>
                  <a:pt x="12801600" y="9935845"/>
                  <a:pt x="9935845" y="12801600"/>
                  <a:pt x="6400800" y="12801600"/>
                </a:cubicBezTo>
                <a:cubicBezTo>
                  <a:pt x="2865755" y="12801600"/>
                  <a:pt x="0" y="9935845"/>
                  <a:pt x="0" y="6400800"/>
                </a:cubicBezTo>
                <a:close/>
              </a:path>
            </a:pathLst>
          </a:custGeom>
          <a:solidFill>
            <a:srgbClr val="00347A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1234440" y="2021681"/>
            <a:ext cx="13716000" cy="584359"/>
            <a:chOff x="0" y="-47625"/>
            <a:chExt cx="18288000" cy="779145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B627"/>
                  </a:solidFill>
                  <a:latin typeface="Calibri"/>
                  <a:ea typeface="Calibri"/>
                  <a:cs typeface="Calibri"/>
                  <a:sym typeface="Calibri"/>
                </a:rPr>
                <a:t>ENACTIVA · CAPSTONE PTY4614 · DUOC UC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165860" y="2614613"/>
            <a:ext cx="13716000" cy="1774507"/>
            <a:chOff x="0" y="-171450"/>
            <a:chExt cx="18288000" cy="236601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8288000" cy="2194560"/>
            </a:xfrm>
            <a:custGeom>
              <a:rect b="b" l="l" r="r" t="t"/>
              <a:pathLst>
                <a:path extrusionOk="0" h="21945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2380" l="0" r="0" t="-112380"/>
              </a:stretch>
            </a:blip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171450"/>
              <a:ext cx="18288000" cy="236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Fase 2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234440" y="4414838"/>
            <a:ext cx="14401800" cy="865822"/>
            <a:chOff x="0" y="-57150"/>
            <a:chExt cx="19202400" cy="115443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202400" cy="1097280"/>
            </a:xfrm>
            <a:custGeom>
              <a:rect b="b" l="l" r="r" t="t"/>
              <a:pathLst>
                <a:path extrusionOk="0"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57150"/>
              <a:ext cx="1920240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Metodología de trabajo, nivel TRL y arquitectura de desarrollo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234440" y="5417820"/>
            <a:ext cx="11795760" cy="685800"/>
          </a:xfrm>
          <a:custGeom>
            <a:rect b="b" l="l" r="r" t="t"/>
            <a:pathLst>
              <a:path extrusionOk="0" h="914400" w="1572768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5544800" y="0"/>
                </a:lnTo>
                <a:cubicBezTo>
                  <a:pt x="15645764" y="0"/>
                  <a:pt x="15727680" y="81915"/>
                  <a:pt x="15727680" y="182880"/>
                </a:cubicBezTo>
                <a:lnTo>
                  <a:pt x="15727680" y="731520"/>
                </a:lnTo>
                <a:cubicBezTo>
                  <a:pt x="15727680" y="832485"/>
                  <a:pt x="15645764" y="914400"/>
                  <a:pt x="15544800" y="914400"/>
                </a:cubicBezTo>
                <a:lnTo>
                  <a:pt x="182880" y="914400"/>
                </a:lnTo>
                <a:cubicBezTo>
                  <a:pt x="81915" y="914400"/>
                  <a:pt x="0" y="832485"/>
                  <a:pt x="0" y="731520"/>
                </a:cubicBezTo>
                <a:close/>
              </a:path>
            </a:pathLst>
          </a:custGeom>
          <a:solidFill>
            <a:srgbClr val="0A4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508760" y="5382101"/>
            <a:ext cx="11247121" cy="721519"/>
            <a:chOff x="0" y="-47625"/>
            <a:chExt cx="14996161" cy="962025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4996161" cy="914400"/>
            </a:xfrm>
            <a:custGeom>
              <a:rect b="b" l="l" r="r" t="t"/>
              <a:pathLst>
                <a:path extrusionOk="0" h="91440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9570" l="0" r="0" t="-269570"/>
              </a:stretch>
            </a:blip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47625"/>
              <a:ext cx="1499616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95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Plataforma de matches corporativos entre colaboradores de una misma empresa</a:t>
              </a:r>
              <a:endParaRPr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234440" y="6493669"/>
            <a:ext cx="5486400" cy="432911"/>
            <a:chOff x="0" y="-28575"/>
            <a:chExt cx="7315200" cy="577215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7315200" cy="548640"/>
            </a:xfrm>
            <a:custGeom>
              <a:rect b="b" l="l" r="r" t="t"/>
              <a:pathLst>
                <a:path extrusionOk="0"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94" l="0" r="0" t="-209794"/>
              </a:stretch>
            </a:blip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B627"/>
                  </a:solidFill>
                  <a:latin typeface="Calibri"/>
                  <a:ea typeface="Calibri"/>
                  <a:cs typeface="Calibri"/>
                  <a:sym typeface="Calibri"/>
                </a:rPr>
                <a:t>EQUIPO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234440" y="7035165"/>
            <a:ext cx="7680960" cy="577215"/>
            <a:chOff x="0" y="-38100"/>
            <a:chExt cx="10241280" cy="76962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Nicolas Saldivia - Scrum Master</a:t>
              </a:r>
              <a:endParaRPr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9189720" y="7035165"/>
            <a:ext cx="7680960" cy="577215"/>
            <a:chOff x="0" y="-38100"/>
            <a:chExt cx="10241280" cy="76962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Arias - Dev Team</a:t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234440" y="7652385"/>
            <a:ext cx="7680960" cy="577215"/>
            <a:chOff x="0" y="-38100"/>
            <a:chExt cx="10241280" cy="76962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Patricio Márquez - Dev Team</a:t>
              </a:r>
              <a:endParaRPr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9189720" y="7652385"/>
            <a:ext cx="7680960" cy="577215"/>
            <a:chOff x="0" y="-38100"/>
            <a:chExt cx="10241280" cy="769620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Giovanni Ortiz - Product Owner</a:t>
              </a: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234440" y="9161145"/>
            <a:ext cx="15087600" cy="577215"/>
            <a:chOff x="0" y="-38100"/>
            <a:chExt cx="20116800" cy="76962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20116800" cy="731520"/>
            </a:xfrm>
            <a:custGeom>
              <a:rect b="b" l="l" r="r" t="t"/>
              <a:pathLst>
                <a:path extrusionOk="0"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5791" l="0" r="0" t="-485791"/>
              </a:stretch>
            </a:blip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Presentación · Cliente: Karina López Fuentealba, ENACTIVA SpA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" name="Google Shape;142;p3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144" name="Google Shape;144;p3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METODOLOGÍA DE TRABAJO</a:t>
              </a:r>
              <a:endParaRPr/>
            </a:p>
          </p:txBody>
        </p:sp>
      </p:grpSp>
      <p:sp>
        <p:nvSpPr>
          <p:cNvPr id="145" name="Google Shape;145;p3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6" name="Google Shape;146;p3"/>
          <p:cNvGrpSpPr/>
          <p:nvPr/>
        </p:nvGrpSpPr>
        <p:grpSpPr>
          <a:xfrm>
            <a:off x="960120" y="1087279"/>
            <a:ext cx="2128877" cy="1313021"/>
            <a:chOff x="0" y="-104775"/>
            <a:chExt cx="2838502" cy="1750695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2838502" cy="1645920"/>
            </a:xfrm>
            <a:custGeom>
              <a:rect b="b" l="l" r="r" t="t"/>
              <a:pathLst>
                <a:path extrusionOk="0" h="1645920" w="2838502">
                  <a:moveTo>
                    <a:pt x="0" y="0"/>
                  </a:moveTo>
                  <a:lnTo>
                    <a:pt x="2838502" y="0"/>
                  </a:lnTo>
                  <a:lnTo>
                    <a:pt x="283850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-660283" t="-205467"/>
              </a:stretch>
            </a:blip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104775"/>
              <a:ext cx="2838502" cy="1750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799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Scrum</a:t>
              </a: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960120" y="2876550"/>
            <a:ext cx="7955280" cy="2468880"/>
            <a:chOff x="0" y="0"/>
            <a:chExt cx="10607040" cy="3291840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10607040" cy="3291840"/>
            </a:xfrm>
            <a:custGeom>
              <a:rect b="b" l="l" r="r" t="t"/>
              <a:pathLst>
                <a:path extrusionOk="0" h="3291840" w="10607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387584" y="0"/>
                  </a:lnTo>
                  <a:cubicBezTo>
                    <a:pt x="10508742" y="0"/>
                    <a:pt x="10607040" y="98298"/>
                    <a:pt x="10607040" y="219456"/>
                  </a:cubicBezTo>
                  <a:lnTo>
                    <a:pt x="10607040" y="3072384"/>
                  </a:lnTo>
                  <a:cubicBezTo>
                    <a:pt x="10607040" y="3193542"/>
                    <a:pt x="10508742" y="3291840"/>
                    <a:pt x="10387584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00347A">
                <a:alpha val="3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3"/>
            <p:cNvGrpSpPr/>
            <p:nvPr/>
          </p:nvGrpSpPr>
          <p:grpSpPr>
            <a:xfrm>
              <a:off x="457200" y="217170"/>
              <a:ext cx="9692640" cy="971550"/>
              <a:chOff x="0" y="-57150"/>
              <a:chExt cx="9692640" cy="971550"/>
            </a:xfrm>
          </p:grpSpPr>
          <p:sp>
            <p:nvSpPr>
              <p:cNvPr id="152" name="Google Shape;152;p3"/>
              <p:cNvSpPr/>
              <p:nvPr/>
            </p:nvSpPr>
            <p:spPr>
              <a:xfrm>
                <a:off x="0" y="0"/>
                <a:ext cx="9692640" cy="914400"/>
              </a:xfrm>
              <a:custGeom>
                <a:rect b="b" l="l" r="r" t="t"/>
                <a:pathLst>
                  <a:path extrusionOk="0" h="9144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6543" l="0" r="0" t="-156543"/>
                </a:stretch>
              </a:blipFill>
              <a:ln>
                <a:noFill/>
              </a:ln>
            </p:spPr>
          </p:sp>
          <p:sp>
            <p:nvSpPr>
              <p:cNvPr id="153" name="Google Shape;153;p3"/>
              <p:cNvSpPr txBox="1"/>
              <p:nvPr/>
            </p:nvSpPr>
            <p:spPr>
              <a:xfrm>
                <a:off x="0" y="-57150"/>
                <a:ext cx="969264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50" u="none" cap="none" strike="noStrike">
                    <a:solidFill>
                      <a:srgbClr val="0034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Cliente real, requerimientos que cambian</a:t>
                </a:r>
                <a:endParaRPr/>
              </a:p>
            </p:txBody>
          </p:sp>
        </p:grpSp>
        <p:grpSp>
          <p:nvGrpSpPr>
            <p:cNvPr id="154" name="Google Shape;154;p3"/>
            <p:cNvGrpSpPr/>
            <p:nvPr/>
          </p:nvGrpSpPr>
          <p:grpSpPr>
            <a:xfrm>
              <a:off x="457200" y="1102995"/>
              <a:ext cx="9692640" cy="1914525"/>
              <a:chOff x="0" y="-85725"/>
              <a:chExt cx="9692640" cy="1914525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0" y="0"/>
                <a:ext cx="9692640" cy="1828800"/>
              </a:xfrm>
              <a:custGeom>
                <a:rect b="b" l="l" r="r" t="t"/>
                <a:pathLst>
                  <a:path extrusionOk="0" h="18288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53272" l="0" r="0" t="-53272"/>
                </a:stretch>
              </a:blipFill>
              <a:ln>
                <a:noFill/>
              </a:ln>
            </p:spPr>
          </p:sp>
          <p:sp>
            <p:nvSpPr>
              <p:cNvPr id="156" name="Google Shape;156;p3"/>
              <p:cNvSpPr txBox="1"/>
              <p:nvPr/>
            </p:nvSpPr>
            <p:spPr>
              <a:xfrm>
                <a:off x="0" y="-85725"/>
                <a:ext cx="9692640" cy="1914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4402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74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alcance ya cambió más de una vez tras reuniones con ENACTIVA la última, el 29-09, redefinió el producto. Scrum re-prioriza el backlog cada sprint.</a:t>
                </a:r>
                <a:endParaRPr/>
              </a:p>
            </p:txBody>
          </p:sp>
        </p:grpSp>
      </p:grpSp>
      <p:grpSp>
        <p:nvGrpSpPr>
          <p:cNvPr id="157" name="Google Shape;157;p3"/>
          <p:cNvGrpSpPr/>
          <p:nvPr/>
        </p:nvGrpSpPr>
        <p:grpSpPr>
          <a:xfrm>
            <a:off x="9326880" y="2876550"/>
            <a:ext cx="7955280" cy="2468880"/>
            <a:chOff x="0" y="0"/>
            <a:chExt cx="10607040" cy="3291840"/>
          </a:xfrm>
        </p:grpSpPr>
        <p:sp>
          <p:nvSpPr>
            <p:cNvPr id="158" name="Google Shape;158;p3"/>
            <p:cNvSpPr/>
            <p:nvPr/>
          </p:nvSpPr>
          <p:spPr>
            <a:xfrm>
              <a:off x="0" y="0"/>
              <a:ext cx="10607040" cy="3291840"/>
            </a:xfrm>
            <a:custGeom>
              <a:rect b="b" l="l" r="r" t="t"/>
              <a:pathLst>
                <a:path extrusionOk="0" h="3291840" w="10607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387584" y="0"/>
                  </a:lnTo>
                  <a:cubicBezTo>
                    <a:pt x="10508742" y="0"/>
                    <a:pt x="10607040" y="98298"/>
                    <a:pt x="10607040" y="219456"/>
                  </a:cubicBezTo>
                  <a:lnTo>
                    <a:pt x="10607040" y="3072384"/>
                  </a:lnTo>
                  <a:cubicBezTo>
                    <a:pt x="10607040" y="3193542"/>
                    <a:pt x="10508742" y="3291840"/>
                    <a:pt x="10387584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00347A">
                <a:alpha val="3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9" name="Google Shape;159;p3"/>
            <p:cNvGrpSpPr/>
            <p:nvPr/>
          </p:nvGrpSpPr>
          <p:grpSpPr>
            <a:xfrm>
              <a:off x="457200" y="217170"/>
              <a:ext cx="9692640" cy="971550"/>
              <a:chOff x="0" y="-57150"/>
              <a:chExt cx="9692640" cy="9715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0" y="0"/>
                <a:ext cx="9692640" cy="914400"/>
              </a:xfrm>
              <a:custGeom>
                <a:rect b="b" l="l" r="r" t="t"/>
                <a:pathLst>
                  <a:path extrusionOk="0" h="9144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6543" l="0" r="0" t="-156543"/>
                </a:stretch>
              </a:blipFill>
              <a:ln>
                <a:noFill/>
              </a:ln>
            </p:spPr>
          </p:sp>
          <p:sp>
            <p:nvSpPr>
              <p:cNvPr id="161" name="Google Shape;161;p3"/>
              <p:cNvSpPr txBox="1"/>
              <p:nvPr/>
            </p:nvSpPr>
            <p:spPr>
              <a:xfrm>
                <a:off x="0" y="-57150"/>
                <a:ext cx="969264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50" u="none" cap="none" strike="noStrike">
                    <a:solidFill>
                      <a:srgbClr val="0034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Acompañamiento quincenal acordado</a:t>
                </a:r>
                <a:endParaRPr/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>
              <a:off x="457200" y="1102995"/>
              <a:ext cx="9692640" cy="1914525"/>
              <a:chOff x="0" y="-85725"/>
              <a:chExt cx="9692640" cy="1914525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0" y="0"/>
                <a:ext cx="9692640" cy="1828800"/>
              </a:xfrm>
              <a:custGeom>
                <a:rect b="b" l="l" r="r" t="t"/>
                <a:pathLst>
                  <a:path extrusionOk="0" h="18288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53272" l="0" r="0" t="-53272"/>
                </a:stretch>
              </a:blipFill>
              <a:ln>
                <a:noFill/>
              </a:ln>
            </p:spPr>
          </p:sp>
          <p:sp>
            <p:nvSpPr>
              <p:cNvPr id="164" name="Google Shape;164;p3"/>
              <p:cNvSpPr txBox="1"/>
              <p:nvPr/>
            </p:nvSpPr>
            <p:spPr>
              <a:xfrm>
                <a:off x="0" y="-85725"/>
                <a:ext cx="9692640" cy="1914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4402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74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Sprint Review calza con esa cadencia — le da propósito formal a cada reunión.</a:t>
                </a:r>
                <a:endParaRPr/>
              </a:p>
            </p:txBody>
          </p:sp>
        </p:grpSp>
      </p:grpSp>
      <p:sp>
        <p:nvSpPr>
          <p:cNvPr id="165" name="Google Shape;165;p3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6" name="Google Shape;166;p3"/>
          <p:cNvGrpSpPr/>
          <p:nvPr/>
        </p:nvGrpSpPr>
        <p:grpSpPr>
          <a:xfrm>
            <a:off x="960120" y="5619750"/>
            <a:ext cx="7955280" cy="2468880"/>
            <a:chOff x="0" y="0"/>
            <a:chExt cx="10607040" cy="3291840"/>
          </a:xfrm>
        </p:grpSpPr>
        <p:sp>
          <p:nvSpPr>
            <p:cNvPr id="167" name="Google Shape;167;p3"/>
            <p:cNvSpPr/>
            <p:nvPr/>
          </p:nvSpPr>
          <p:spPr>
            <a:xfrm>
              <a:off x="0" y="0"/>
              <a:ext cx="10607040" cy="3291840"/>
            </a:xfrm>
            <a:custGeom>
              <a:rect b="b" l="l" r="r" t="t"/>
              <a:pathLst>
                <a:path extrusionOk="0" h="3291840" w="10607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387584" y="0"/>
                  </a:lnTo>
                  <a:cubicBezTo>
                    <a:pt x="10508742" y="0"/>
                    <a:pt x="10607040" y="98298"/>
                    <a:pt x="10607040" y="219456"/>
                  </a:cubicBezTo>
                  <a:lnTo>
                    <a:pt x="10607040" y="3072384"/>
                  </a:lnTo>
                  <a:cubicBezTo>
                    <a:pt x="10607040" y="3193542"/>
                    <a:pt x="10508742" y="3291840"/>
                    <a:pt x="10387584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00347A">
                <a:alpha val="3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3"/>
            <p:cNvGrpSpPr/>
            <p:nvPr/>
          </p:nvGrpSpPr>
          <p:grpSpPr>
            <a:xfrm>
              <a:off x="457200" y="217170"/>
              <a:ext cx="9692640" cy="971550"/>
              <a:chOff x="0" y="-57150"/>
              <a:chExt cx="9692640" cy="971550"/>
            </a:xfrm>
          </p:grpSpPr>
          <p:sp>
            <p:nvSpPr>
              <p:cNvPr id="169" name="Google Shape;169;p3"/>
              <p:cNvSpPr/>
              <p:nvPr/>
            </p:nvSpPr>
            <p:spPr>
              <a:xfrm>
                <a:off x="0" y="0"/>
                <a:ext cx="9692640" cy="914400"/>
              </a:xfrm>
              <a:custGeom>
                <a:rect b="b" l="l" r="r" t="t"/>
                <a:pathLst>
                  <a:path extrusionOk="0" h="9144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6543" l="0" r="0" t="-156543"/>
                </a:stretch>
              </a:blipFill>
              <a:ln>
                <a:noFill/>
              </a:ln>
            </p:spPr>
          </p:sp>
          <p:sp>
            <p:nvSpPr>
              <p:cNvPr id="170" name="Google Shape;170;p3"/>
              <p:cNvSpPr txBox="1"/>
              <p:nvPr/>
            </p:nvSpPr>
            <p:spPr>
              <a:xfrm>
                <a:off x="0" y="-57150"/>
                <a:ext cx="969264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50" u="none" cap="none" strike="noStrike">
                    <a:solidFill>
                      <a:srgbClr val="0034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Equipo chico (4 personas)</a:t>
                </a:r>
                <a:endParaRPr/>
              </a:p>
            </p:txBody>
          </p:sp>
        </p:grpSp>
        <p:grpSp>
          <p:nvGrpSpPr>
            <p:cNvPr id="171" name="Google Shape;171;p3"/>
            <p:cNvGrpSpPr/>
            <p:nvPr/>
          </p:nvGrpSpPr>
          <p:grpSpPr>
            <a:xfrm>
              <a:off x="457200" y="1102995"/>
              <a:ext cx="9692640" cy="1914525"/>
              <a:chOff x="0" y="-85725"/>
              <a:chExt cx="9692640" cy="1914525"/>
            </a:xfrm>
          </p:grpSpPr>
          <p:sp>
            <p:nvSpPr>
              <p:cNvPr id="172" name="Google Shape;172;p3"/>
              <p:cNvSpPr/>
              <p:nvPr/>
            </p:nvSpPr>
            <p:spPr>
              <a:xfrm>
                <a:off x="0" y="0"/>
                <a:ext cx="9692640" cy="1828800"/>
              </a:xfrm>
              <a:custGeom>
                <a:rect b="b" l="l" r="r" t="t"/>
                <a:pathLst>
                  <a:path extrusionOk="0" h="18288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53272" l="0" r="0" t="-53272"/>
                </a:stretch>
              </a:blipFill>
              <a:ln>
                <a:noFill/>
              </a:ln>
            </p:spPr>
          </p:sp>
          <p:sp>
            <p:nvSpPr>
              <p:cNvPr id="173" name="Google Shape;173;p3"/>
              <p:cNvSpPr txBox="1"/>
              <p:nvPr/>
            </p:nvSpPr>
            <p:spPr>
              <a:xfrm>
                <a:off x="0" y="-85725"/>
                <a:ext cx="9692640" cy="1914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4402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74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Sin estructura jerárquica pesada; todos desarrollan, incluido PO y SM.</a:t>
                </a:r>
                <a:endParaRPr/>
              </a:p>
            </p:txBody>
          </p:sp>
        </p:grpSp>
      </p:grpSp>
      <p:grpSp>
        <p:nvGrpSpPr>
          <p:cNvPr id="174" name="Google Shape;174;p3"/>
          <p:cNvGrpSpPr/>
          <p:nvPr/>
        </p:nvGrpSpPr>
        <p:grpSpPr>
          <a:xfrm>
            <a:off x="9326880" y="5619750"/>
            <a:ext cx="7955280" cy="2468880"/>
            <a:chOff x="0" y="0"/>
            <a:chExt cx="10607040" cy="3291840"/>
          </a:xfrm>
        </p:grpSpPr>
        <p:sp>
          <p:nvSpPr>
            <p:cNvPr id="175" name="Google Shape;175;p3"/>
            <p:cNvSpPr/>
            <p:nvPr/>
          </p:nvSpPr>
          <p:spPr>
            <a:xfrm>
              <a:off x="0" y="0"/>
              <a:ext cx="10607040" cy="3291840"/>
            </a:xfrm>
            <a:custGeom>
              <a:rect b="b" l="l" r="r" t="t"/>
              <a:pathLst>
                <a:path extrusionOk="0" h="3291840" w="10607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387584" y="0"/>
                  </a:lnTo>
                  <a:cubicBezTo>
                    <a:pt x="10508742" y="0"/>
                    <a:pt x="10607040" y="98298"/>
                    <a:pt x="10607040" y="219456"/>
                  </a:cubicBezTo>
                  <a:lnTo>
                    <a:pt x="10607040" y="3072384"/>
                  </a:lnTo>
                  <a:cubicBezTo>
                    <a:pt x="10607040" y="3193542"/>
                    <a:pt x="10508742" y="3291840"/>
                    <a:pt x="10387584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00347A">
                <a:alpha val="3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3"/>
            <p:cNvGrpSpPr/>
            <p:nvPr/>
          </p:nvGrpSpPr>
          <p:grpSpPr>
            <a:xfrm>
              <a:off x="457200" y="217170"/>
              <a:ext cx="9692640" cy="971550"/>
              <a:chOff x="0" y="-57150"/>
              <a:chExt cx="9692640" cy="971550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0"/>
                <a:ext cx="9692640" cy="914400"/>
              </a:xfrm>
              <a:custGeom>
                <a:rect b="b" l="l" r="r" t="t"/>
                <a:pathLst>
                  <a:path extrusionOk="0" h="9144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6543" l="0" r="0" t="-156543"/>
                </a:stretch>
              </a:blipFill>
              <a:ln>
                <a:noFill/>
              </a:ln>
            </p:spPr>
          </p:sp>
          <p:sp>
            <p:nvSpPr>
              <p:cNvPr id="178" name="Google Shape;178;p3"/>
              <p:cNvSpPr txBox="1"/>
              <p:nvPr/>
            </p:nvSpPr>
            <p:spPr>
              <a:xfrm>
                <a:off x="0" y="-57150"/>
                <a:ext cx="969264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50" u="none" cap="none" strike="noStrike">
                    <a:solidFill>
                      <a:srgbClr val="0034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Riesgo técnico concentrado</a:t>
                </a:r>
                <a:endParaRPr/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457200" y="1102995"/>
              <a:ext cx="9692640" cy="1914525"/>
              <a:chOff x="0" y="-85725"/>
              <a:chExt cx="9692640" cy="191452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0"/>
                <a:ext cx="9692640" cy="1828800"/>
              </a:xfrm>
              <a:custGeom>
                <a:rect b="b" l="l" r="r" t="t"/>
                <a:pathLst>
                  <a:path extrusionOk="0" h="182880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53272" l="0" r="0" t="-53272"/>
                </a:stretch>
              </a:blipFill>
              <a:ln>
                <a:noFill/>
              </a:ln>
            </p:spPr>
          </p:sp>
          <p:sp>
            <p:nvSpPr>
              <p:cNvPr id="181" name="Google Shape;181;p3"/>
              <p:cNvSpPr txBox="1"/>
              <p:nvPr/>
            </p:nvSpPr>
            <p:spPr>
              <a:xfrm>
                <a:off x="0" y="-85725"/>
                <a:ext cx="9692640" cy="1914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4402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74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migración a microservicios ya se ejecutó en sprints cortos — permitió corregir el rumbo fase por fase (M0, M1, M2), no todo de una vez.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4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4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4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194" name="Google Shape;194;p4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195" name="Google Shape;195;p4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METODOLOGÍA DE TRABAJO</a:t>
              </a:r>
              <a:endParaRPr/>
            </a:p>
          </p:txBody>
        </p:sp>
      </p:grpSp>
      <p:grpSp>
        <p:nvGrpSpPr>
          <p:cNvPr id="196" name="Google Shape;196;p4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197" name="Google Shape;197;p4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198" name="Google Shape;198;p4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Roles y avance real por sprint</a:t>
              </a:r>
              <a:endParaRPr/>
            </a:p>
          </p:txBody>
        </p:sp>
      </p:grpSp>
      <p:sp>
        <p:nvSpPr>
          <p:cNvPr id="199" name="Google Shape;199;p4"/>
          <p:cNvSpPr/>
          <p:nvPr/>
        </p:nvSpPr>
        <p:spPr>
          <a:xfrm>
            <a:off x="960120" y="2537460"/>
            <a:ext cx="5212080" cy="1440180"/>
          </a:xfrm>
          <a:custGeom>
            <a:rect b="b" l="l" r="r" t="t"/>
            <a:pathLst>
              <a:path extrusionOk="0" h="192024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1700784"/>
                </a:lnTo>
                <a:cubicBezTo>
                  <a:pt x="6949440" y="1821942"/>
                  <a:pt x="6851142" y="1920240"/>
                  <a:pt x="6729984" y="1920240"/>
                </a:cubicBezTo>
                <a:lnTo>
                  <a:pt x="219456" y="1920240"/>
                </a:lnTo>
                <a:cubicBezTo>
                  <a:pt x="98298" y="1920240"/>
                  <a:pt x="0" y="1821942"/>
                  <a:pt x="0" y="1700784"/>
                </a:cubicBezTo>
                <a:close/>
              </a:path>
            </a:pathLst>
          </a:custGeom>
          <a:solidFill>
            <a:srgbClr val="0034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" name="Google Shape;200;p4"/>
          <p:cNvGrpSpPr/>
          <p:nvPr/>
        </p:nvGrpSpPr>
        <p:grpSpPr>
          <a:xfrm>
            <a:off x="1234440" y="2638901"/>
            <a:ext cx="4663440" cy="515779"/>
            <a:chOff x="0" y="-47625"/>
            <a:chExt cx="6217920" cy="687705"/>
          </a:xfrm>
        </p:grpSpPr>
        <p:sp>
          <p:nvSpPr>
            <p:cNvPr id="201" name="Google Shape;201;p4"/>
            <p:cNvSpPr/>
            <p:nvPr/>
          </p:nvSpPr>
          <p:spPr>
            <a:xfrm>
              <a:off x="0" y="0"/>
              <a:ext cx="6217920" cy="640080"/>
            </a:xfrm>
            <a:custGeom>
              <a:rect b="b" l="l" r="r" t="t"/>
              <a:pathLst>
                <a:path extrusionOk="0"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9279" l="0" r="0" t="-139279"/>
              </a:stretch>
            </a:blipFill>
            <a:ln>
              <a:noFill/>
            </a:ln>
          </p:spPr>
        </p:sp>
        <p:sp>
          <p:nvSpPr>
            <p:cNvPr id="202" name="Google Shape;202;p4"/>
            <p:cNvSpPr txBox="1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/>
            </a:p>
          </p:txBody>
        </p:sp>
      </p:grpSp>
      <p:grpSp>
        <p:nvGrpSpPr>
          <p:cNvPr id="203" name="Google Shape;203;p4"/>
          <p:cNvGrpSpPr/>
          <p:nvPr/>
        </p:nvGrpSpPr>
        <p:grpSpPr>
          <a:xfrm>
            <a:off x="1234440" y="3153537"/>
            <a:ext cx="4663440" cy="714375"/>
            <a:chOff x="0" y="-38100"/>
            <a:chExt cx="6217920" cy="952500"/>
          </a:xfrm>
        </p:grpSpPr>
        <p:sp>
          <p:nvSpPr>
            <p:cNvPr id="204" name="Google Shape;204;p4"/>
            <p:cNvSpPr/>
            <p:nvPr/>
          </p:nvSpPr>
          <p:spPr>
            <a:xfrm>
              <a:off x="0" y="0"/>
              <a:ext cx="6217920" cy="914400"/>
            </a:xfrm>
            <a:custGeom>
              <a:rect b="b" l="l" r="r" t="t"/>
              <a:pathLst>
                <a:path extrusionOk="0"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2499" l="0" r="0" t="-82499"/>
              </a:stretch>
            </a:blipFill>
            <a:ln>
              <a:noFill/>
            </a:ln>
          </p:spPr>
        </p:sp>
        <p:sp>
          <p:nvSpPr>
            <p:cNvPr id="205" name="Google Shape;205;p4"/>
            <p:cNvSpPr txBox="1"/>
            <p:nvPr/>
          </p:nvSpPr>
          <p:spPr>
            <a:xfrm>
              <a:off x="0" y="-38100"/>
              <a:ext cx="621792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Giovanni Ortiz</a:t>
              </a:r>
              <a:endParaRPr/>
            </a:p>
          </p:txBody>
        </p:sp>
      </p:grpSp>
      <p:sp>
        <p:nvSpPr>
          <p:cNvPr id="206" name="Google Shape;206;p4"/>
          <p:cNvSpPr/>
          <p:nvPr/>
        </p:nvSpPr>
        <p:spPr>
          <a:xfrm>
            <a:off x="6515100" y="2537460"/>
            <a:ext cx="5212080" cy="1440180"/>
          </a:xfrm>
          <a:custGeom>
            <a:rect b="b" l="l" r="r" t="t"/>
            <a:pathLst>
              <a:path extrusionOk="0" h="192024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1700784"/>
                </a:lnTo>
                <a:cubicBezTo>
                  <a:pt x="6949440" y="1821942"/>
                  <a:pt x="6851142" y="1920240"/>
                  <a:pt x="6729984" y="1920240"/>
                </a:cubicBezTo>
                <a:lnTo>
                  <a:pt x="219456" y="1920240"/>
                </a:lnTo>
                <a:cubicBezTo>
                  <a:pt x="98298" y="1920240"/>
                  <a:pt x="0" y="1821942"/>
                  <a:pt x="0" y="170078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4"/>
          <p:cNvGrpSpPr/>
          <p:nvPr/>
        </p:nvGrpSpPr>
        <p:grpSpPr>
          <a:xfrm>
            <a:off x="6789420" y="2638901"/>
            <a:ext cx="4663440" cy="515779"/>
            <a:chOff x="0" y="-47625"/>
            <a:chExt cx="6217920" cy="687705"/>
          </a:xfrm>
        </p:grpSpPr>
        <p:sp>
          <p:nvSpPr>
            <p:cNvPr id="208" name="Google Shape;208;p4"/>
            <p:cNvSpPr/>
            <p:nvPr/>
          </p:nvSpPr>
          <p:spPr>
            <a:xfrm>
              <a:off x="0" y="0"/>
              <a:ext cx="6217920" cy="640080"/>
            </a:xfrm>
            <a:custGeom>
              <a:rect b="b" l="l" r="r" t="t"/>
              <a:pathLst>
                <a:path extrusionOk="0"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9279" l="0" r="0" t="-139279"/>
              </a:stretch>
            </a:blipFill>
            <a:ln>
              <a:noFill/>
            </a:ln>
          </p:spPr>
        </p:sp>
        <p:sp>
          <p:nvSpPr>
            <p:cNvPr id="209" name="Google Shape;209;p4"/>
            <p:cNvSpPr txBox="1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/>
            </a:p>
          </p:txBody>
        </p:sp>
      </p:grpSp>
      <p:grpSp>
        <p:nvGrpSpPr>
          <p:cNvPr id="210" name="Google Shape;210;p4"/>
          <p:cNvGrpSpPr/>
          <p:nvPr/>
        </p:nvGrpSpPr>
        <p:grpSpPr>
          <a:xfrm>
            <a:off x="6789420" y="3153537"/>
            <a:ext cx="4663440" cy="714375"/>
            <a:chOff x="0" y="-38100"/>
            <a:chExt cx="6217920" cy="952500"/>
          </a:xfrm>
        </p:grpSpPr>
        <p:sp>
          <p:nvSpPr>
            <p:cNvPr id="211" name="Google Shape;211;p4"/>
            <p:cNvSpPr/>
            <p:nvPr/>
          </p:nvSpPr>
          <p:spPr>
            <a:xfrm>
              <a:off x="0" y="0"/>
              <a:ext cx="6217920" cy="914400"/>
            </a:xfrm>
            <a:custGeom>
              <a:rect b="b" l="l" r="r" t="t"/>
              <a:pathLst>
                <a:path extrusionOk="0"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2499" l="0" r="0" t="-82499"/>
              </a:stretch>
            </a:blipFill>
            <a:ln>
              <a:noFill/>
            </a:ln>
          </p:spPr>
        </p:sp>
        <p:sp>
          <p:nvSpPr>
            <p:cNvPr id="212" name="Google Shape;212;p4"/>
            <p:cNvSpPr txBox="1"/>
            <p:nvPr/>
          </p:nvSpPr>
          <p:spPr>
            <a:xfrm>
              <a:off x="0" y="-38100"/>
              <a:ext cx="621792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Nicolas Saldivia</a:t>
              </a:r>
              <a:endParaRPr/>
            </a:p>
          </p:txBody>
        </p:sp>
      </p:grpSp>
      <p:sp>
        <p:nvSpPr>
          <p:cNvPr id="213" name="Google Shape;213;p4"/>
          <p:cNvSpPr/>
          <p:nvPr/>
        </p:nvSpPr>
        <p:spPr>
          <a:xfrm>
            <a:off x="12070080" y="2537460"/>
            <a:ext cx="5212080" cy="1440180"/>
          </a:xfrm>
          <a:custGeom>
            <a:rect b="b" l="l" r="r" t="t"/>
            <a:pathLst>
              <a:path extrusionOk="0" h="192024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1700784"/>
                </a:lnTo>
                <a:cubicBezTo>
                  <a:pt x="6949440" y="1821942"/>
                  <a:pt x="6851142" y="1920240"/>
                  <a:pt x="6729984" y="1920240"/>
                </a:cubicBezTo>
                <a:lnTo>
                  <a:pt x="219456" y="1920240"/>
                </a:lnTo>
                <a:cubicBezTo>
                  <a:pt x="98298" y="1920240"/>
                  <a:pt x="0" y="1821942"/>
                  <a:pt x="0" y="1700784"/>
                </a:cubicBezTo>
                <a:close/>
              </a:path>
            </a:pathLst>
          </a:custGeom>
          <a:solidFill>
            <a:srgbClr val="00347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4"/>
          <p:cNvGrpSpPr/>
          <p:nvPr/>
        </p:nvGrpSpPr>
        <p:grpSpPr>
          <a:xfrm>
            <a:off x="12344400" y="2638901"/>
            <a:ext cx="4663440" cy="515779"/>
            <a:chOff x="0" y="-47625"/>
            <a:chExt cx="6217920" cy="687705"/>
          </a:xfrm>
        </p:grpSpPr>
        <p:sp>
          <p:nvSpPr>
            <p:cNvPr id="215" name="Google Shape;215;p4"/>
            <p:cNvSpPr/>
            <p:nvPr/>
          </p:nvSpPr>
          <p:spPr>
            <a:xfrm>
              <a:off x="0" y="0"/>
              <a:ext cx="6217920" cy="640080"/>
            </a:xfrm>
            <a:custGeom>
              <a:rect b="b" l="l" r="r" t="t"/>
              <a:pathLst>
                <a:path extrusionOk="0"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9279" l="0" r="0" t="-139279"/>
              </a:stretch>
            </a:blipFill>
            <a:ln>
              <a:noFill/>
            </a:ln>
          </p:spPr>
        </p:sp>
        <p:sp>
          <p:nvSpPr>
            <p:cNvPr id="216" name="Google Shape;216;p4"/>
            <p:cNvSpPr txBox="1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Development Team</a:t>
              </a:r>
              <a:endParaRPr/>
            </a:p>
          </p:txBody>
        </p:sp>
      </p:grpSp>
      <p:grpSp>
        <p:nvGrpSpPr>
          <p:cNvPr id="217" name="Google Shape;217;p4"/>
          <p:cNvGrpSpPr/>
          <p:nvPr/>
        </p:nvGrpSpPr>
        <p:grpSpPr>
          <a:xfrm>
            <a:off x="12344400" y="3153537"/>
            <a:ext cx="4663440" cy="714375"/>
            <a:chOff x="0" y="-38100"/>
            <a:chExt cx="6217920" cy="952500"/>
          </a:xfrm>
        </p:grpSpPr>
        <p:sp>
          <p:nvSpPr>
            <p:cNvPr id="218" name="Google Shape;218;p4"/>
            <p:cNvSpPr/>
            <p:nvPr/>
          </p:nvSpPr>
          <p:spPr>
            <a:xfrm>
              <a:off x="0" y="0"/>
              <a:ext cx="6217920" cy="914400"/>
            </a:xfrm>
            <a:custGeom>
              <a:rect b="b" l="l" r="r" t="t"/>
              <a:pathLst>
                <a:path extrusionOk="0"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2499" l="0" r="0" t="-82499"/>
              </a:stretch>
            </a:blipFill>
            <a:ln>
              <a:noFill/>
            </a:ln>
          </p:spPr>
        </p:sp>
        <p:sp>
          <p:nvSpPr>
            <p:cNvPr id="219" name="Google Shape;219;p4"/>
            <p:cNvSpPr txBox="1"/>
            <p:nvPr/>
          </p:nvSpPr>
          <p:spPr>
            <a:xfrm>
              <a:off x="0" y="-38100"/>
              <a:ext cx="621792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Patricio Márquez, Benjamín Arias</a:t>
              </a:r>
              <a:endParaRPr/>
            </a:p>
          </p:txBody>
        </p:sp>
      </p:grpSp>
      <p:grpSp>
        <p:nvGrpSpPr>
          <p:cNvPr id="220" name="Google Shape;220;p4"/>
          <p:cNvGrpSpPr/>
          <p:nvPr/>
        </p:nvGrpSpPr>
        <p:grpSpPr>
          <a:xfrm>
            <a:off x="960120" y="4277678"/>
            <a:ext cx="15087600" cy="591525"/>
            <a:chOff x="0" y="-57150"/>
            <a:chExt cx="20116800" cy="788700"/>
          </a:xfrm>
        </p:grpSpPr>
        <p:sp>
          <p:nvSpPr>
            <p:cNvPr id="221" name="Google Shape;221;p4"/>
            <p:cNvSpPr/>
            <p:nvPr/>
          </p:nvSpPr>
          <p:spPr>
            <a:xfrm>
              <a:off x="0" y="0"/>
              <a:ext cx="20116800" cy="731520"/>
            </a:xfrm>
            <a:custGeom>
              <a:rect b="b" l="l" r="r" t="t"/>
              <a:pathLst>
                <a:path extrusionOk="0"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5791" l="0" r="0" t="-485791"/>
              </a:stretch>
            </a:blipFill>
            <a:ln>
              <a:noFill/>
            </a:ln>
          </p:spPr>
        </p:sp>
        <p:sp>
          <p:nvSpPr>
            <p:cNvPr id="222" name="Google Shape;222;p4"/>
            <p:cNvSpPr txBox="1"/>
            <p:nvPr/>
          </p:nvSpPr>
          <p:spPr>
            <a:xfrm>
              <a:off x="0" y="-57150"/>
              <a:ext cx="20116800" cy="7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9 sprints de 2 semanas </a:t>
              </a:r>
              <a:r>
                <a:rPr b="1" lang="en-US" sz="2250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r>
                <a:rPr b="1" i="0" lang="en-US" sz="2250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  ya ejecutados y verificables en GitHub</a:t>
              </a:r>
              <a:endParaRPr/>
            </a:p>
          </p:txBody>
        </p:sp>
      </p:grpSp>
      <p:sp>
        <p:nvSpPr>
          <p:cNvPr id="223" name="Google Shape;223;p4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4"/>
          <p:cNvSpPr/>
          <p:nvPr/>
        </p:nvSpPr>
        <p:spPr>
          <a:xfrm>
            <a:off x="960120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BAFF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4"/>
          <p:cNvGrpSpPr/>
          <p:nvPr/>
        </p:nvGrpSpPr>
        <p:grpSpPr>
          <a:xfrm>
            <a:off x="960120" y="5237798"/>
            <a:ext cx="2194560" cy="522922"/>
            <a:chOff x="0" y="-57150"/>
            <a:chExt cx="2926080" cy="697230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1E9E6B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228" name="Google Shape;228;p4"/>
          <p:cNvGrpSpPr/>
          <p:nvPr/>
        </p:nvGrpSpPr>
        <p:grpSpPr>
          <a:xfrm>
            <a:off x="1042416" y="5746433"/>
            <a:ext cx="2029968" cy="425768"/>
            <a:chOff x="0" y="-19050"/>
            <a:chExt cx="2706624" cy="567690"/>
          </a:xfrm>
        </p:grpSpPr>
        <p:sp>
          <p:nvSpPr>
            <p:cNvPr id="229" name="Google Shape;22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30" name="Google Shape;23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0-1</a:t>
              </a:r>
              <a:endParaRPr/>
            </a:p>
          </p:txBody>
        </p:sp>
      </p:grpSp>
      <p:grpSp>
        <p:nvGrpSpPr>
          <p:cNvPr id="231" name="Google Shape;231;p4"/>
          <p:cNvGrpSpPr/>
          <p:nvPr/>
        </p:nvGrpSpPr>
        <p:grpSpPr>
          <a:xfrm>
            <a:off x="1069848" y="6136481"/>
            <a:ext cx="1975104" cy="1270159"/>
            <a:chOff x="0" y="-47625"/>
            <a:chExt cx="2633472" cy="1693545"/>
          </a:xfrm>
        </p:grpSpPr>
        <p:sp>
          <p:nvSpPr>
            <p:cNvPr id="232" name="Google Shape;23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33" name="Google Shape;23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Definición + base segura</a:t>
              </a:r>
              <a:endParaRPr/>
            </a:p>
          </p:txBody>
        </p:sp>
      </p:grpSp>
      <p:sp>
        <p:nvSpPr>
          <p:cNvPr id="234" name="Google Shape;234;p4"/>
          <p:cNvSpPr/>
          <p:nvPr/>
        </p:nvSpPr>
        <p:spPr>
          <a:xfrm>
            <a:off x="3319272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BAFF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4"/>
          <p:cNvGrpSpPr/>
          <p:nvPr/>
        </p:nvGrpSpPr>
        <p:grpSpPr>
          <a:xfrm>
            <a:off x="3319272" y="5237798"/>
            <a:ext cx="2194560" cy="522922"/>
            <a:chOff x="0" y="-57150"/>
            <a:chExt cx="2926080" cy="697230"/>
          </a:xfrm>
        </p:grpSpPr>
        <p:sp>
          <p:nvSpPr>
            <p:cNvPr id="236" name="Google Shape;23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37" name="Google Shape;23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1E9E6B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238" name="Google Shape;238;p4"/>
          <p:cNvGrpSpPr/>
          <p:nvPr/>
        </p:nvGrpSpPr>
        <p:grpSpPr>
          <a:xfrm>
            <a:off x="3401568" y="5746433"/>
            <a:ext cx="2029968" cy="425768"/>
            <a:chOff x="0" y="-19050"/>
            <a:chExt cx="2706624" cy="567690"/>
          </a:xfrm>
        </p:grpSpPr>
        <p:sp>
          <p:nvSpPr>
            <p:cNvPr id="239" name="Google Shape;23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40" name="Google Shape;24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2</a:t>
              </a:r>
              <a:endParaRPr/>
            </a:p>
          </p:txBody>
        </p:sp>
      </p:grpSp>
      <p:grpSp>
        <p:nvGrpSpPr>
          <p:cNvPr id="241" name="Google Shape;241;p4"/>
          <p:cNvGrpSpPr/>
          <p:nvPr/>
        </p:nvGrpSpPr>
        <p:grpSpPr>
          <a:xfrm>
            <a:off x="3429000" y="6136481"/>
            <a:ext cx="1975104" cy="1270159"/>
            <a:chOff x="0" y="-47625"/>
            <a:chExt cx="2633472" cy="1693545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43" name="Google Shape;24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Colaboradores + carga CSV</a:t>
              </a:r>
              <a:endParaRPr/>
            </a:p>
          </p:txBody>
        </p:sp>
      </p:grpSp>
      <p:sp>
        <p:nvSpPr>
          <p:cNvPr id="244" name="Google Shape;244;p4"/>
          <p:cNvSpPr/>
          <p:nvPr/>
        </p:nvSpPr>
        <p:spPr>
          <a:xfrm>
            <a:off x="5678424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BAFF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4"/>
          <p:cNvGrpSpPr/>
          <p:nvPr/>
        </p:nvGrpSpPr>
        <p:grpSpPr>
          <a:xfrm>
            <a:off x="5678424" y="5237798"/>
            <a:ext cx="2194560" cy="522922"/>
            <a:chOff x="0" y="-57150"/>
            <a:chExt cx="2926080" cy="697230"/>
          </a:xfrm>
        </p:grpSpPr>
        <p:sp>
          <p:nvSpPr>
            <p:cNvPr id="246" name="Google Shape;24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47" name="Google Shape;24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1E9E6B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248" name="Google Shape;248;p4"/>
          <p:cNvGrpSpPr/>
          <p:nvPr/>
        </p:nvGrpSpPr>
        <p:grpSpPr>
          <a:xfrm>
            <a:off x="5760720" y="5746433"/>
            <a:ext cx="2029968" cy="425768"/>
            <a:chOff x="0" y="-19050"/>
            <a:chExt cx="2706624" cy="567690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3</a:t>
              </a:r>
              <a:endParaRPr/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5788152" y="6136481"/>
            <a:ext cx="1975104" cy="1270159"/>
            <a:chOff x="0" y="-47625"/>
            <a:chExt cx="2633472" cy="1693545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53" name="Google Shape;25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Migración a microservicios</a:t>
              </a:r>
              <a:endParaRPr/>
            </a:p>
          </p:txBody>
        </p:sp>
      </p:grpSp>
      <p:sp>
        <p:nvSpPr>
          <p:cNvPr id="254" name="Google Shape;254;p4"/>
          <p:cNvSpPr/>
          <p:nvPr/>
        </p:nvSpPr>
        <p:spPr>
          <a:xfrm>
            <a:off x="8037576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DC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4"/>
          <p:cNvGrpSpPr/>
          <p:nvPr/>
        </p:nvGrpSpPr>
        <p:grpSpPr>
          <a:xfrm>
            <a:off x="8037576" y="5237798"/>
            <a:ext cx="2194560" cy="522922"/>
            <a:chOff x="0" y="-57150"/>
            <a:chExt cx="2926080" cy="697230"/>
          </a:xfrm>
        </p:grpSpPr>
        <p:sp>
          <p:nvSpPr>
            <p:cNvPr id="256" name="Google Shape;25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57" name="Google Shape;25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/>
            </a:p>
          </p:txBody>
        </p:sp>
      </p:grpSp>
      <p:grpSp>
        <p:nvGrpSpPr>
          <p:cNvPr id="258" name="Google Shape;258;p4"/>
          <p:cNvGrpSpPr/>
          <p:nvPr/>
        </p:nvGrpSpPr>
        <p:grpSpPr>
          <a:xfrm>
            <a:off x="8119872" y="5746433"/>
            <a:ext cx="2029968" cy="425768"/>
            <a:chOff x="0" y="-19050"/>
            <a:chExt cx="2706624" cy="567690"/>
          </a:xfrm>
        </p:grpSpPr>
        <p:sp>
          <p:nvSpPr>
            <p:cNvPr id="259" name="Google Shape;25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60" name="Google Shape;26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4</a:t>
              </a:r>
              <a:endParaRPr/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8147304" y="6136481"/>
            <a:ext cx="1975104" cy="1270159"/>
            <a:chOff x="0" y="-47625"/>
            <a:chExt cx="2633472" cy="1693545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63" name="Google Shape;26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Catálogo de temas</a:t>
              </a:r>
              <a:endParaRPr/>
            </a:p>
          </p:txBody>
        </p:sp>
      </p:grpSp>
      <p:sp>
        <p:nvSpPr>
          <p:cNvPr id="264" name="Google Shape;264;p4"/>
          <p:cNvSpPr/>
          <p:nvPr/>
        </p:nvSpPr>
        <p:spPr>
          <a:xfrm>
            <a:off x="10396728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DC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4"/>
          <p:cNvGrpSpPr/>
          <p:nvPr/>
        </p:nvGrpSpPr>
        <p:grpSpPr>
          <a:xfrm>
            <a:off x="10396728" y="5237798"/>
            <a:ext cx="2194560" cy="522922"/>
            <a:chOff x="0" y="-57150"/>
            <a:chExt cx="2926080" cy="697230"/>
          </a:xfrm>
        </p:grpSpPr>
        <p:sp>
          <p:nvSpPr>
            <p:cNvPr id="266" name="Google Shape;26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67" name="Google Shape;26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/>
            </a:p>
          </p:txBody>
        </p:sp>
      </p:grpSp>
      <p:grpSp>
        <p:nvGrpSpPr>
          <p:cNvPr id="268" name="Google Shape;268;p4"/>
          <p:cNvGrpSpPr/>
          <p:nvPr/>
        </p:nvGrpSpPr>
        <p:grpSpPr>
          <a:xfrm>
            <a:off x="10479024" y="5746433"/>
            <a:ext cx="2029968" cy="425768"/>
            <a:chOff x="0" y="-19050"/>
            <a:chExt cx="2706624" cy="567690"/>
          </a:xfrm>
        </p:grpSpPr>
        <p:sp>
          <p:nvSpPr>
            <p:cNvPr id="269" name="Google Shape;26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70" name="Google Shape;27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5</a:t>
              </a:r>
              <a:endParaRPr/>
            </a:p>
          </p:txBody>
        </p:sp>
      </p:grpSp>
      <p:grpSp>
        <p:nvGrpSpPr>
          <p:cNvPr id="271" name="Google Shape;271;p4"/>
          <p:cNvGrpSpPr/>
          <p:nvPr/>
        </p:nvGrpSpPr>
        <p:grpSpPr>
          <a:xfrm>
            <a:off x="10506456" y="6136481"/>
            <a:ext cx="1975104" cy="1270159"/>
            <a:chOff x="0" y="-47625"/>
            <a:chExt cx="2633472" cy="1693545"/>
          </a:xfrm>
        </p:grpSpPr>
        <p:sp>
          <p:nvSpPr>
            <p:cNvPr id="272" name="Google Shape;27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73" name="Google Shape;27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Fichas de taller</a:t>
              </a:r>
              <a:endParaRPr/>
            </a:p>
          </p:txBody>
        </p:sp>
      </p:grpSp>
      <p:sp>
        <p:nvSpPr>
          <p:cNvPr id="274" name="Google Shape;274;p4"/>
          <p:cNvSpPr/>
          <p:nvPr/>
        </p:nvSpPr>
        <p:spPr>
          <a:xfrm>
            <a:off x="12755880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DC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4"/>
          <p:cNvGrpSpPr/>
          <p:nvPr/>
        </p:nvGrpSpPr>
        <p:grpSpPr>
          <a:xfrm>
            <a:off x="12755880" y="5237798"/>
            <a:ext cx="2194560" cy="522922"/>
            <a:chOff x="0" y="-57150"/>
            <a:chExt cx="2926080" cy="697230"/>
          </a:xfrm>
        </p:grpSpPr>
        <p:sp>
          <p:nvSpPr>
            <p:cNvPr id="276" name="Google Shape;27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77" name="Google Shape;27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/>
            </a:p>
          </p:txBody>
        </p:sp>
      </p:grpSp>
      <p:grpSp>
        <p:nvGrpSpPr>
          <p:cNvPr id="278" name="Google Shape;278;p4"/>
          <p:cNvGrpSpPr/>
          <p:nvPr/>
        </p:nvGrpSpPr>
        <p:grpSpPr>
          <a:xfrm>
            <a:off x="12838176" y="5746433"/>
            <a:ext cx="2029968" cy="425768"/>
            <a:chOff x="0" y="-19050"/>
            <a:chExt cx="2706624" cy="567690"/>
          </a:xfrm>
        </p:grpSpPr>
        <p:sp>
          <p:nvSpPr>
            <p:cNvPr id="279" name="Google Shape;27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80" name="Google Shape;28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6</a:t>
              </a:r>
              <a:endParaRPr/>
            </a:p>
          </p:txBody>
        </p:sp>
      </p:grpSp>
      <p:grpSp>
        <p:nvGrpSpPr>
          <p:cNvPr id="281" name="Google Shape;281;p4"/>
          <p:cNvGrpSpPr/>
          <p:nvPr/>
        </p:nvGrpSpPr>
        <p:grpSpPr>
          <a:xfrm>
            <a:off x="12865608" y="6136481"/>
            <a:ext cx="1975104" cy="1270159"/>
            <a:chOff x="0" y="-47625"/>
            <a:chExt cx="2633472" cy="1693545"/>
          </a:xfrm>
        </p:grpSpPr>
        <p:sp>
          <p:nvSpPr>
            <p:cNvPr id="282" name="Google Shape;28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83" name="Google Shape;28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Matching swipe</a:t>
              </a:r>
              <a:endParaRPr/>
            </a:p>
          </p:txBody>
        </p:sp>
      </p:grpSp>
      <p:sp>
        <p:nvSpPr>
          <p:cNvPr id="284" name="Google Shape;284;p4"/>
          <p:cNvSpPr/>
          <p:nvPr/>
        </p:nvSpPr>
        <p:spPr>
          <a:xfrm>
            <a:off x="15115032" y="5143500"/>
            <a:ext cx="2194560" cy="2331720"/>
          </a:xfrm>
          <a:custGeom>
            <a:rect b="b" l="l" r="r" t="t"/>
            <a:pathLst>
              <a:path extrusionOk="0" h="3108960" w="2926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779776" y="0"/>
                </a:lnTo>
                <a:cubicBezTo>
                  <a:pt x="2860548" y="0"/>
                  <a:pt x="2926080" y="65532"/>
                  <a:pt x="2926080" y="146304"/>
                </a:cubicBezTo>
                <a:lnTo>
                  <a:pt x="2926080" y="2962656"/>
                </a:lnTo>
                <a:cubicBezTo>
                  <a:pt x="2926080" y="3043428"/>
                  <a:pt x="2860548" y="3108960"/>
                  <a:pt x="2779776" y="3108960"/>
                </a:cubicBezTo>
                <a:lnTo>
                  <a:pt x="146304" y="3108960"/>
                </a:lnTo>
                <a:cubicBezTo>
                  <a:pt x="65532" y="3108960"/>
                  <a:pt x="0" y="3043428"/>
                  <a:pt x="0" y="2962656"/>
                </a:cubicBezTo>
                <a:close/>
              </a:path>
            </a:pathLst>
          </a:custGeom>
          <a:solidFill>
            <a:srgbClr val="DC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5" name="Google Shape;285;p4"/>
          <p:cNvGrpSpPr/>
          <p:nvPr/>
        </p:nvGrpSpPr>
        <p:grpSpPr>
          <a:xfrm>
            <a:off x="15115032" y="5237798"/>
            <a:ext cx="2194560" cy="522922"/>
            <a:chOff x="0" y="-57150"/>
            <a:chExt cx="2926080" cy="697230"/>
          </a:xfrm>
        </p:grpSpPr>
        <p:sp>
          <p:nvSpPr>
            <p:cNvPr id="286" name="Google Shape;286;p4"/>
            <p:cNvSpPr/>
            <p:nvPr/>
          </p:nvSpPr>
          <p:spPr>
            <a:xfrm>
              <a:off x="0" y="0"/>
              <a:ext cx="2926080" cy="640080"/>
            </a:xfrm>
            <a:custGeom>
              <a:rect b="b" l="l" r="r" t="t"/>
              <a:pathLst>
                <a:path extrusionOk="0"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073" l="0" r="0" t="-39073"/>
              </a:stretch>
            </a:blipFill>
            <a:ln>
              <a:noFill/>
            </a:ln>
          </p:spPr>
        </p:sp>
        <p:sp>
          <p:nvSpPr>
            <p:cNvPr id="287" name="Google Shape;287;p4"/>
            <p:cNvSpPr txBox="1"/>
            <p:nvPr/>
          </p:nvSpPr>
          <p:spPr>
            <a:xfrm>
              <a:off x="0" y="-57150"/>
              <a:ext cx="2926080" cy="6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/>
            </a:p>
          </p:txBody>
        </p:sp>
      </p:grpSp>
      <p:grpSp>
        <p:nvGrpSpPr>
          <p:cNvPr id="288" name="Google Shape;288;p4"/>
          <p:cNvGrpSpPr/>
          <p:nvPr/>
        </p:nvGrpSpPr>
        <p:grpSpPr>
          <a:xfrm>
            <a:off x="15197328" y="5746433"/>
            <a:ext cx="2029968" cy="425768"/>
            <a:chOff x="0" y="-19050"/>
            <a:chExt cx="2706624" cy="567690"/>
          </a:xfrm>
        </p:grpSpPr>
        <p:sp>
          <p:nvSpPr>
            <p:cNvPr id="289" name="Google Shape;289;p4"/>
            <p:cNvSpPr/>
            <p:nvPr/>
          </p:nvSpPr>
          <p:spPr>
            <a:xfrm>
              <a:off x="0" y="0"/>
              <a:ext cx="2706624" cy="548640"/>
            </a:xfrm>
            <a:custGeom>
              <a:rect b="b" l="l" r="r" t="t"/>
              <a:pathLst>
                <a:path extrusionOk="0" h="548640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124" l="0" r="0" t="-46124"/>
              </a:stretch>
            </a:blipFill>
            <a:ln>
              <a:noFill/>
            </a:ln>
          </p:spPr>
        </p:sp>
        <p:sp>
          <p:nvSpPr>
            <p:cNvPr id="290" name="Google Shape;290;p4"/>
            <p:cNvSpPr txBox="1"/>
            <p:nvPr/>
          </p:nvSpPr>
          <p:spPr>
            <a:xfrm>
              <a:off x="0" y="-19050"/>
              <a:ext cx="2706624" cy="56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Sprint 7-8</a:t>
              </a:r>
              <a:endParaRPr/>
            </a:p>
          </p:txBody>
        </p:sp>
      </p:grpSp>
      <p:grpSp>
        <p:nvGrpSpPr>
          <p:cNvPr id="291" name="Google Shape;291;p4"/>
          <p:cNvGrpSpPr/>
          <p:nvPr/>
        </p:nvGrpSpPr>
        <p:grpSpPr>
          <a:xfrm>
            <a:off x="15224760" y="6136481"/>
            <a:ext cx="1975104" cy="1270159"/>
            <a:chOff x="0" y="-47625"/>
            <a:chExt cx="2633472" cy="1693545"/>
          </a:xfrm>
        </p:grpSpPr>
        <p:sp>
          <p:nvSpPr>
            <p:cNvPr id="292" name="Google Shape;292;p4"/>
            <p:cNvSpPr/>
            <p:nvPr/>
          </p:nvSpPr>
          <p:spPr>
            <a:xfrm>
              <a:off x="0" y="0"/>
              <a:ext cx="2633472" cy="1645920"/>
            </a:xfrm>
            <a:custGeom>
              <a:rect b="b" l="l" r="r" t="t"/>
              <a:pathLst>
                <a:path extrusionOk="0" h="16459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0190" r="-30190" t="0"/>
              </a:stretch>
            </a:blipFill>
            <a:ln>
              <a:noFill/>
            </a:ln>
          </p:spPr>
        </p:sp>
        <p:sp>
          <p:nvSpPr>
            <p:cNvPr id="293" name="Google Shape;293;p4"/>
            <p:cNvSpPr txBox="1"/>
            <p:nvPr/>
          </p:nvSpPr>
          <p:spPr>
            <a:xfrm>
              <a:off x="0" y="-47625"/>
              <a:ext cx="2633472" cy="1693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Despliegue + demo final</a:t>
              </a:r>
              <a:endParaRPr/>
            </a:p>
          </p:txBody>
        </p:sp>
      </p:grpSp>
      <p:grpSp>
        <p:nvGrpSpPr>
          <p:cNvPr id="294" name="Google Shape;294;p4"/>
          <p:cNvGrpSpPr/>
          <p:nvPr/>
        </p:nvGrpSpPr>
        <p:grpSpPr>
          <a:xfrm>
            <a:off x="960120" y="7858125"/>
            <a:ext cx="16322040" cy="714375"/>
            <a:chOff x="0" y="-38100"/>
            <a:chExt cx="21762720" cy="952500"/>
          </a:xfrm>
        </p:grpSpPr>
        <p:sp>
          <p:nvSpPr>
            <p:cNvPr id="295" name="Google Shape;295;p4"/>
            <p:cNvSpPr/>
            <p:nvPr/>
          </p:nvSpPr>
          <p:spPr>
            <a:xfrm>
              <a:off x="0" y="0"/>
              <a:ext cx="21762720" cy="914400"/>
            </a:xfrm>
            <a:custGeom>
              <a:rect b="b" l="l" r="r" t="t"/>
              <a:pathLst>
                <a:path extrusionOk="0"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13736" l="0" r="0" t="-413736"/>
              </a:stretch>
            </a:blipFill>
            <a:ln>
              <a:noFill/>
            </a:ln>
          </p:spPr>
        </p:sp>
        <p:sp>
          <p:nvSpPr>
            <p:cNvPr id="296" name="Google Shape;296;p4"/>
            <p:cNvSpPr txBox="1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7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El antiguo "Sprint de rúbrica y mediciones" queda en pausa — Karina lo marcó "en duda" el 29-09; se retoma solo si lo confirma.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5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5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8" name="Google Shape;308;p5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309" name="Google Shape;309;p5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310" name="Google Shape;310;p5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NIVEL DE MADUREZ TECNOLÓGICA (TRL)</a:t>
              </a:r>
              <a:endParaRPr/>
            </a:p>
          </p:txBody>
        </p:sp>
      </p:grpSp>
      <p:grpSp>
        <p:nvGrpSpPr>
          <p:cNvPr id="311" name="Google Shape;311;p5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312" name="Google Shape;312;p5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313" name="Google Shape;313;p5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¿Dónde estamos hoy?</a:t>
              </a:r>
              <a:endParaRPr/>
            </a:p>
          </p:txBody>
        </p:sp>
      </p:grpSp>
      <p:sp>
        <p:nvSpPr>
          <p:cNvPr id="314" name="Google Shape;314;p5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5"/>
          <p:cNvSpPr/>
          <p:nvPr/>
        </p:nvSpPr>
        <p:spPr>
          <a:xfrm>
            <a:off x="960120" y="2743200"/>
            <a:ext cx="4526280" cy="4526280"/>
          </a:xfrm>
          <a:custGeom>
            <a:rect b="b" l="l" r="r" t="t"/>
            <a:pathLst>
              <a:path extrusionOk="0" h="6035040" w="6035040">
                <a:moveTo>
                  <a:pt x="0" y="292608"/>
                </a:moveTo>
                <a:cubicBezTo>
                  <a:pt x="0" y="130937"/>
                  <a:pt x="130937" y="0"/>
                  <a:pt x="292608" y="0"/>
                </a:cubicBezTo>
                <a:lnTo>
                  <a:pt x="5742432" y="0"/>
                </a:lnTo>
                <a:cubicBezTo>
                  <a:pt x="5903976" y="0"/>
                  <a:pt x="6035040" y="130937"/>
                  <a:pt x="6035040" y="292608"/>
                </a:cubicBezTo>
                <a:lnTo>
                  <a:pt x="6035040" y="5742432"/>
                </a:lnTo>
                <a:cubicBezTo>
                  <a:pt x="6035040" y="5903976"/>
                  <a:pt x="5904103" y="6035040"/>
                  <a:pt x="5742432" y="6035040"/>
                </a:cubicBezTo>
                <a:lnTo>
                  <a:pt x="292608" y="6035040"/>
                </a:lnTo>
                <a:cubicBezTo>
                  <a:pt x="130937" y="6035040"/>
                  <a:pt x="0" y="5904103"/>
                  <a:pt x="0" y="5742432"/>
                </a:cubicBezTo>
                <a:close/>
              </a:path>
            </a:pathLst>
          </a:custGeom>
          <a:solidFill>
            <a:srgbClr val="0034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5"/>
          <p:cNvGrpSpPr/>
          <p:nvPr/>
        </p:nvGrpSpPr>
        <p:grpSpPr>
          <a:xfrm>
            <a:off x="960120" y="3111818"/>
            <a:ext cx="4526280" cy="591502"/>
            <a:chOff x="0" y="-57150"/>
            <a:chExt cx="6035040" cy="788670"/>
          </a:xfrm>
        </p:grpSpPr>
        <p:sp>
          <p:nvSpPr>
            <p:cNvPr id="317" name="Google Shape;317;p5"/>
            <p:cNvSpPr/>
            <p:nvPr/>
          </p:nvSpPr>
          <p:spPr>
            <a:xfrm>
              <a:off x="0" y="0"/>
              <a:ext cx="6035040" cy="731520"/>
            </a:xfrm>
            <a:custGeom>
              <a:rect b="b" l="l" r="r" t="t"/>
              <a:pathLst>
                <a:path extrusionOk="0" h="7315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0751" l="0" r="0" t="-110751"/>
              </a:stretch>
            </a:blipFill>
            <a:ln>
              <a:noFill/>
            </a:ln>
          </p:spPr>
        </p:sp>
        <p:sp>
          <p:nvSpPr>
            <p:cNvPr id="318" name="Google Shape;318;p5"/>
            <p:cNvSpPr txBox="1"/>
            <p:nvPr/>
          </p:nvSpPr>
          <p:spPr>
            <a:xfrm>
              <a:off x="0" y="-57150"/>
              <a:ext cx="60350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TRL</a:t>
              </a:r>
              <a:endParaRPr/>
            </a:p>
          </p:txBody>
        </p:sp>
      </p:grpSp>
      <p:grpSp>
        <p:nvGrpSpPr>
          <p:cNvPr id="319" name="Google Shape;319;p5"/>
          <p:cNvGrpSpPr/>
          <p:nvPr/>
        </p:nvGrpSpPr>
        <p:grpSpPr>
          <a:xfrm>
            <a:off x="960120" y="3437573"/>
            <a:ext cx="4526280" cy="2134553"/>
            <a:chOff x="0" y="-285750"/>
            <a:chExt cx="6035040" cy="2846070"/>
          </a:xfrm>
        </p:grpSpPr>
        <p:sp>
          <p:nvSpPr>
            <p:cNvPr id="320" name="Google Shape;320;p5"/>
            <p:cNvSpPr/>
            <p:nvPr/>
          </p:nvSpPr>
          <p:spPr>
            <a:xfrm>
              <a:off x="0" y="0"/>
              <a:ext cx="6035040" cy="2560320"/>
            </a:xfrm>
            <a:custGeom>
              <a:rect b="b" l="l" r="r" t="t"/>
              <a:pathLst>
                <a:path extrusionOk="0" h="25603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560320"/>
                  </a:lnTo>
                  <a:lnTo>
                    <a:pt x="0" y="2560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4431" r="-4431" t="0"/>
              </a:stretch>
            </a:blipFill>
            <a:ln>
              <a:noFill/>
            </a:ln>
          </p:spPr>
        </p:sp>
        <p:sp>
          <p:nvSpPr>
            <p:cNvPr id="321" name="Google Shape;321;p5"/>
            <p:cNvSpPr txBox="1"/>
            <p:nvPr/>
          </p:nvSpPr>
          <p:spPr>
            <a:xfrm>
              <a:off x="0" y="-285750"/>
              <a:ext cx="6035040" cy="2846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0" u="none" cap="none" strike="noStrike">
                  <a:solidFill>
                    <a:srgbClr val="FFB627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322" name="Google Shape;322;p5"/>
          <p:cNvGrpSpPr/>
          <p:nvPr/>
        </p:nvGrpSpPr>
        <p:grpSpPr>
          <a:xfrm>
            <a:off x="1234440" y="5587841"/>
            <a:ext cx="3977640" cy="1132999"/>
            <a:chOff x="0" y="-47625"/>
            <a:chExt cx="5303520" cy="1510665"/>
          </a:xfrm>
        </p:grpSpPr>
        <p:sp>
          <p:nvSpPr>
            <p:cNvPr id="323" name="Google Shape;323;p5"/>
            <p:cNvSpPr/>
            <p:nvPr/>
          </p:nvSpPr>
          <p:spPr>
            <a:xfrm>
              <a:off x="0" y="0"/>
              <a:ext cx="5303520" cy="1463040"/>
            </a:xfrm>
            <a:custGeom>
              <a:rect b="b" l="l" r="r" t="t"/>
              <a:pathLst>
                <a:path extrusionOk="0" h="14630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633" l="0" r="0" t="-20633"/>
              </a:stretch>
            </a:blipFill>
            <a:ln>
              <a:noFill/>
            </a:ln>
          </p:spPr>
        </p:sp>
        <p:sp>
          <p:nvSpPr>
            <p:cNvPr id="324" name="Google Shape;324;p5"/>
            <p:cNvSpPr txBox="1"/>
            <p:nvPr/>
          </p:nvSpPr>
          <p:spPr>
            <a:xfrm>
              <a:off x="0" y="-47625"/>
              <a:ext cx="530352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Tecnología validada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 laboratorio</a:t>
              </a:r>
              <a:endParaRPr/>
            </a:p>
          </p:txBody>
        </p:sp>
      </p:grpSp>
      <p:grpSp>
        <p:nvGrpSpPr>
          <p:cNvPr id="325" name="Google Shape;325;p5"/>
          <p:cNvGrpSpPr/>
          <p:nvPr/>
        </p:nvGrpSpPr>
        <p:grpSpPr>
          <a:xfrm>
            <a:off x="6520815" y="3204686"/>
            <a:ext cx="11247121" cy="858679"/>
            <a:chOff x="0" y="-47625"/>
            <a:chExt cx="14996161" cy="1144905"/>
          </a:xfrm>
        </p:grpSpPr>
        <p:sp>
          <p:nvSpPr>
            <p:cNvPr id="326" name="Google Shape;326;p5"/>
            <p:cNvSpPr/>
            <p:nvPr/>
          </p:nvSpPr>
          <p:spPr>
            <a:xfrm>
              <a:off x="0" y="0"/>
              <a:ext cx="14996161" cy="1097280"/>
            </a:xfrm>
            <a:custGeom>
              <a:rect b="b" l="l" r="r" t="t"/>
              <a:pathLst>
                <a:path extrusionOk="0" h="10972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6297" l="0" r="0" t="-216297"/>
              </a:stretch>
            </a:blipFill>
            <a:ln>
              <a:noFill/>
            </a:ln>
          </p:spPr>
        </p:sp>
        <p:sp>
          <p:nvSpPr>
            <p:cNvPr id="327" name="Google Shape;327;p5"/>
            <p:cNvSpPr txBox="1"/>
            <p:nvPr/>
          </p:nvSpPr>
          <p:spPr>
            <a:xfrm>
              <a:off x="0" y="-47625"/>
              <a:ext cx="149961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✓ auth + identity + gateway integrados y funcionando juntos (PR #16, #18, #19)</a:t>
              </a:r>
              <a:endParaRPr/>
            </a:p>
          </p:txBody>
        </p:sp>
      </p:grpSp>
      <p:grpSp>
        <p:nvGrpSpPr>
          <p:cNvPr id="328" name="Google Shape;328;p5"/>
          <p:cNvGrpSpPr/>
          <p:nvPr/>
        </p:nvGrpSpPr>
        <p:grpSpPr>
          <a:xfrm>
            <a:off x="6520815" y="4192238"/>
            <a:ext cx="11247121" cy="858679"/>
            <a:chOff x="0" y="-47625"/>
            <a:chExt cx="14996161" cy="1144905"/>
          </a:xfrm>
        </p:grpSpPr>
        <p:sp>
          <p:nvSpPr>
            <p:cNvPr id="329" name="Google Shape;329;p5"/>
            <p:cNvSpPr/>
            <p:nvPr/>
          </p:nvSpPr>
          <p:spPr>
            <a:xfrm>
              <a:off x="0" y="0"/>
              <a:ext cx="14996161" cy="1097280"/>
            </a:xfrm>
            <a:custGeom>
              <a:rect b="b" l="l" r="r" t="t"/>
              <a:pathLst>
                <a:path extrusionOk="0" h="10972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6297" l="0" r="0" t="-216297"/>
              </a:stretch>
            </a:blipFill>
            <a:ln>
              <a:noFill/>
            </a:ln>
          </p:spPr>
        </p:sp>
        <p:sp>
          <p:nvSpPr>
            <p:cNvPr id="330" name="Google Shape;330;p5"/>
            <p:cNvSpPr txBox="1"/>
            <p:nvPr/>
          </p:nvSpPr>
          <p:spPr>
            <a:xfrm>
              <a:off x="0" y="-47625"/>
              <a:ext cx="149961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✓ 198 pruebas automatizadas en verde</a:t>
              </a:r>
              <a:endParaRPr/>
            </a:p>
          </p:txBody>
        </p:sp>
      </p:grpSp>
      <p:grpSp>
        <p:nvGrpSpPr>
          <p:cNvPr id="331" name="Google Shape;331;p5"/>
          <p:cNvGrpSpPr/>
          <p:nvPr/>
        </p:nvGrpSpPr>
        <p:grpSpPr>
          <a:xfrm>
            <a:off x="6520815" y="5179790"/>
            <a:ext cx="11247121" cy="858679"/>
            <a:chOff x="0" y="-47625"/>
            <a:chExt cx="14996161" cy="1144905"/>
          </a:xfrm>
        </p:grpSpPr>
        <p:sp>
          <p:nvSpPr>
            <p:cNvPr id="332" name="Google Shape;332;p5"/>
            <p:cNvSpPr/>
            <p:nvPr/>
          </p:nvSpPr>
          <p:spPr>
            <a:xfrm>
              <a:off x="0" y="0"/>
              <a:ext cx="14996161" cy="1097280"/>
            </a:xfrm>
            <a:custGeom>
              <a:rect b="b" l="l" r="r" t="t"/>
              <a:pathLst>
                <a:path extrusionOk="0" h="10972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6297" l="0" r="0" t="-216297"/>
              </a:stretch>
            </a:blipFill>
            <a:ln>
              <a:noFill/>
            </a:ln>
          </p:spPr>
        </p:sp>
        <p:sp>
          <p:nvSpPr>
            <p:cNvPr id="333" name="Google Shape;333;p5"/>
            <p:cNvSpPr txBox="1"/>
            <p:nvPr/>
          </p:nvSpPr>
          <p:spPr>
            <a:xfrm>
              <a:off x="0" y="-47625"/>
              <a:ext cx="149961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✓ Karina vio el sistema funcionando en vivo el 29-09-2026</a:t>
              </a:r>
              <a:endParaRPr/>
            </a:p>
          </p:txBody>
        </p:sp>
      </p:grpSp>
      <p:grpSp>
        <p:nvGrpSpPr>
          <p:cNvPr id="334" name="Google Shape;334;p5"/>
          <p:cNvGrpSpPr/>
          <p:nvPr/>
        </p:nvGrpSpPr>
        <p:grpSpPr>
          <a:xfrm>
            <a:off x="6520815" y="6167342"/>
            <a:ext cx="11247121" cy="858679"/>
            <a:chOff x="0" y="-47625"/>
            <a:chExt cx="14996161" cy="1144905"/>
          </a:xfrm>
        </p:grpSpPr>
        <p:sp>
          <p:nvSpPr>
            <p:cNvPr id="335" name="Google Shape;335;p5"/>
            <p:cNvSpPr/>
            <p:nvPr/>
          </p:nvSpPr>
          <p:spPr>
            <a:xfrm>
              <a:off x="0" y="0"/>
              <a:ext cx="14996161" cy="1097280"/>
            </a:xfrm>
            <a:custGeom>
              <a:rect b="b" l="l" r="r" t="t"/>
              <a:pathLst>
                <a:path extrusionOk="0" h="10972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6297" l="0" r="0" t="-216297"/>
              </a:stretch>
            </a:blipFill>
            <a:ln>
              <a:noFill/>
            </a:ln>
          </p:spPr>
        </p:sp>
        <p:sp>
          <p:nvSpPr>
            <p:cNvPr id="336" name="Google Shape;336;p5"/>
            <p:cNvSpPr txBox="1"/>
            <p:nvPr/>
          </p:nvSpPr>
          <p:spPr>
            <a:xfrm>
              <a:off x="0" y="-47625"/>
              <a:ext cx="149961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✗ Aún en Docker local, sin despliegue público ni usuarios reales - por eso no es TRL 5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6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p6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348" name="Google Shape;348;p6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349" name="Google Shape;349;p6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NIVEL DE MADUREZ TECNOLÓGICA (TRL)</a:t>
              </a:r>
              <a:endParaRPr/>
            </a:p>
          </p:txBody>
        </p:sp>
      </p:grpSp>
      <p:grpSp>
        <p:nvGrpSpPr>
          <p:cNvPr id="350" name="Google Shape;350;p6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351" name="Google Shape;351;p6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352" name="Google Shape;352;p6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¿A dónde queremos llegar?</a:t>
              </a:r>
              <a:endParaRPr/>
            </a:p>
          </p:txBody>
        </p:sp>
      </p:grpSp>
      <p:sp>
        <p:nvSpPr>
          <p:cNvPr id="353" name="Google Shape;353;p6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4" name="Google Shape;354;p6"/>
          <p:cNvGrpSpPr/>
          <p:nvPr/>
        </p:nvGrpSpPr>
        <p:grpSpPr>
          <a:xfrm>
            <a:off x="11764472" y="2787541"/>
            <a:ext cx="4526280" cy="4526280"/>
            <a:chOff x="0" y="0"/>
            <a:chExt cx="6035040" cy="6035040"/>
          </a:xfrm>
        </p:grpSpPr>
        <p:sp>
          <p:nvSpPr>
            <p:cNvPr id="355" name="Google Shape;355;p6"/>
            <p:cNvSpPr/>
            <p:nvPr/>
          </p:nvSpPr>
          <p:spPr>
            <a:xfrm>
              <a:off x="0" y="0"/>
              <a:ext cx="6035040" cy="6035040"/>
            </a:xfrm>
            <a:custGeom>
              <a:rect b="b" l="l" r="r" t="t"/>
              <a:pathLst>
                <a:path extrusionOk="0" h="6035040" w="603504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5742432" y="0"/>
                  </a:lnTo>
                  <a:cubicBezTo>
                    <a:pt x="5903976" y="0"/>
                    <a:pt x="6035040" y="130937"/>
                    <a:pt x="6035040" y="292608"/>
                  </a:cubicBezTo>
                  <a:lnTo>
                    <a:pt x="6035040" y="5742432"/>
                  </a:lnTo>
                  <a:cubicBezTo>
                    <a:pt x="6035040" y="5903976"/>
                    <a:pt x="5904103" y="6035040"/>
                    <a:pt x="5742432" y="6035040"/>
                  </a:cubicBezTo>
                  <a:lnTo>
                    <a:pt x="292608" y="6035040"/>
                  </a:lnTo>
                  <a:cubicBezTo>
                    <a:pt x="130937" y="6035040"/>
                    <a:pt x="0" y="5904103"/>
                    <a:pt x="0" y="5742432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6"/>
            <p:cNvGrpSpPr/>
            <p:nvPr/>
          </p:nvGrpSpPr>
          <p:grpSpPr>
            <a:xfrm>
              <a:off x="0" y="491490"/>
              <a:ext cx="6035040" cy="788670"/>
              <a:chOff x="0" y="-57150"/>
              <a:chExt cx="6035040" cy="788670"/>
            </a:xfrm>
          </p:grpSpPr>
          <p:sp>
            <p:nvSpPr>
              <p:cNvPr id="357" name="Google Shape;357;p6"/>
              <p:cNvSpPr/>
              <p:nvPr/>
            </p:nvSpPr>
            <p:spPr>
              <a:xfrm>
                <a:off x="0" y="0"/>
                <a:ext cx="6035040" cy="731520"/>
              </a:xfrm>
              <a:custGeom>
                <a:rect b="b" l="l" r="r" t="t"/>
                <a:pathLst>
                  <a:path extrusionOk="0" h="731520" w="6035040">
                    <a:moveTo>
                      <a:pt x="0" y="0"/>
                    </a:moveTo>
                    <a:lnTo>
                      <a:pt x="6035040" y="0"/>
                    </a:lnTo>
                    <a:lnTo>
                      <a:pt x="603504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10751" l="0" r="0" t="-110751"/>
                </a:stretch>
              </a:blipFill>
              <a:ln>
                <a:noFill/>
              </a:ln>
            </p:spPr>
          </p:sp>
          <p:sp>
            <p:nvSpPr>
              <p:cNvPr id="358" name="Google Shape;358;p6"/>
              <p:cNvSpPr txBox="1"/>
              <p:nvPr/>
            </p:nvSpPr>
            <p:spPr>
              <a:xfrm>
                <a:off x="0" y="-57150"/>
                <a:ext cx="6035040" cy="788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50" u="none" cap="none" strike="noStrike">
                    <a:solidFill>
                      <a:srgbClr val="E7F7E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TRL</a:t>
                </a:r>
                <a:endParaRPr/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>
              <a:off x="0" y="720090"/>
              <a:ext cx="6035040" cy="3916338"/>
              <a:chOff x="0" y="-285750"/>
              <a:chExt cx="6035040" cy="3916338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0" y="0"/>
                <a:ext cx="6035040" cy="3630588"/>
              </a:xfrm>
              <a:custGeom>
                <a:rect b="b" l="l" r="r" t="t"/>
                <a:pathLst>
                  <a:path extrusionOk="0" h="3630588" w="6035040">
                    <a:moveTo>
                      <a:pt x="0" y="0"/>
                    </a:moveTo>
                    <a:lnTo>
                      <a:pt x="6035040" y="0"/>
                    </a:lnTo>
                    <a:lnTo>
                      <a:pt x="6035040" y="3630588"/>
                    </a:lnTo>
                    <a:lnTo>
                      <a:pt x="0" y="3630588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29479" l="-4431" r="-4431" t="0"/>
                </a:stretch>
              </a:blipFill>
              <a:ln>
                <a:noFill/>
              </a:ln>
            </p:spPr>
          </p:sp>
          <p:sp>
            <p:nvSpPr>
              <p:cNvPr id="361" name="Google Shape;361;p6"/>
              <p:cNvSpPr txBox="1"/>
              <p:nvPr/>
            </p:nvSpPr>
            <p:spPr>
              <a:xfrm>
                <a:off x="0" y="-285750"/>
                <a:ext cx="6035040" cy="3916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3500" u="none" cap="none" strike="noStrike">
                    <a:solidFill>
                      <a:srgbClr val="FFB62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  <p:grpSp>
          <p:nvGrpSpPr>
            <p:cNvPr id="362" name="Google Shape;362;p6"/>
            <p:cNvGrpSpPr/>
            <p:nvPr/>
          </p:nvGrpSpPr>
          <p:grpSpPr>
            <a:xfrm>
              <a:off x="365760" y="3792855"/>
              <a:ext cx="5303520" cy="1510665"/>
              <a:chOff x="0" y="-47625"/>
              <a:chExt cx="5303520" cy="1510665"/>
            </a:xfrm>
          </p:grpSpPr>
          <p:sp>
            <p:nvSpPr>
              <p:cNvPr id="363" name="Google Shape;363;p6"/>
              <p:cNvSpPr/>
              <p:nvPr/>
            </p:nvSpPr>
            <p:spPr>
              <a:xfrm>
                <a:off x="0" y="0"/>
                <a:ext cx="5303520" cy="1463040"/>
              </a:xfrm>
              <a:custGeom>
                <a:rect b="b" l="l" r="r" t="t"/>
                <a:pathLst>
                  <a:path extrusionOk="0" h="1463040" w="5303520">
                    <a:moveTo>
                      <a:pt x="0" y="0"/>
                    </a:moveTo>
                    <a:lnTo>
                      <a:pt x="5303520" y="0"/>
                    </a:lnTo>
                    <a:lnTo>
                      <a:pt x="53035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20633" l="0" r="0" t="-20633"/>
                </a:stretch>
              </a:blipFill>
              <a:ln>
                <a:noFill/>
              </a:ln>
            </p:spPr>
          </p:sp>
          <p:sp>
            <p:nvSpPr>
              <p:cNvPr id="364" name="Google Shape;364;p6"/>
              <p:cNvSpPr txBox="1"/>
              <p:nvPr/>
            </p:nvSpPr>
            <p:spPr>
              <a:xfrm>
                <a:off x="0" y="-47625"/>
                <a:ext cx="5303520" cy="1510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Tecnología demostrada</a:t>
                </a:r>
                <a:endParaRPr/>
              </a:p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1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 entorno relevante</a:t>
                </a:r>
                <a:endParaRPr/>
              </a:p>
            </p:txBody>
          </p:sp>
        </p:grpSp>
      </p:grpSp>
      <p:grpSp>
        <p:nvGrpSpPr>
          <p:cNvPr id="365" name="Google Shape;365;p6"/>
          <p:cNvGrpSpPr/>
          <p:nvPr/>
        </p:nvGrpSpPr>
        <p:grpSpPr>
          <a:xfrm>
            <a:off x="2373701" y="3591878"/>
            <a:ext cx="8483216" cy="3334703"/>
            <a:chOff x="0" y="-57150"/>
            <a:chExt cx="11310955" cy="4446270"/>
          </a:xfrm>
        </p:grpSpPr>
        <p:grpSp>
          <p:nvGrpSpPr>
            <p:cNvPr id="366" name="Google Shape;366;p6"/>
            <p:cNvGrpSpPr/>
            <p:nvPr/>
          </p:nvGrpSpPr>
          <p:grpSpPr>
            <a:xfrm>
              <a:off x="0" y="-57150"/>
              <a:ext cx="11310955" cy="1337310"/>
              <a:chOff x="0" y="-57150"/>
              <a:chExt cx="11310955" cy="1337310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0" y="0"/>
                <a:ext cx="11310955" cy="1280160"/>
              </a:xfrm>
              <a:custGeom>
                <a:rect b="b" l="l" r="r" t="t"/>
                <a:pathLst>
                  <a:path extrusionOk="0" h="1280160" w="11310955">
                    <a:moveTo>
                      <a:pt x="0" y="0"/>
                    </a:moveTo>
                    <a:lnTo>
                      <a:pt x="11310955" y="0"/>
                    </a:lnTo>
                    <a:lnTo>
                      <a:pt x="11310955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78248" l="0" r="-32580" t="-178248"/>
                </a:stretch>
              </a:blipFill>
              <a:ln>
                <a:noFill/>
              </a:ln>
            </p:spPr>
          </p:sp>
          <p:sp>
            <p:nvSpPr>
              <p:cNvPr id="368" name="Google Shape;368;p6"/>
              <p:cNvSpPr txBox="1"/>
              <p:nvPr/>
            </p:nvSpPr>
            <p:spPr>
              <a:xfrm>
                <a:off x="0" y="-57150"/>
                <a:ext cx="11310955" cy="1337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 menos una empresa piloto real operando la plataforma desplegada</a:t>
                </a:r>
                <a:endParaRPr/>
              </a:p>
            </p:txBody>
          </p:sp>
        </p:grpSp>
        <p:grpSp>
          <p:nvGrpSpPr>
            <p:cNvPr id="369" name="Google Shape;369;p6"/>
            <p:cNvGrpSpPr/>
            <p:nvPr/>
          </p:nvGrpSpPr>
          <p:grpSpPr>
            <a:xfrm>
              <a:off x="0" y="1497330"/>
              <a:ext cx="11310955" cy="1337310"/>
              <a:chOff x="0" y="-57150"/>
              <a:chExt cx="11310955" cy="1337310"/>
            </a:xfrm>
          </p:grpSpPr>
          <p:sp>
            <p:nvSpPr>
              <p:cNvPr id="370" name="Google Shape;370;p6"/>
              <p:cNvSpPr/>
              <p:nvPr/>
            </p:nvSpPr>
            <p:spPr>
              <a:xfrm>
                <a:off x="0" y="0"/>
                <a:ext cx="11310955" cy="1280160"/>
              </a:xfrm>
              <a:custGeom>
                <a:rect b="b" l="l" r="r" t="t"/>
                <a:pathLst>
                  <a:path extrusionOk="0" h="1280160" w="11310955">
                    <a:moveTo>
                      <a:pt x="0" y="0"/>
                    </a:moveTo>
                    <a:lnTo>
                      <a:pt x="11310955" y="0"/>
                    </a:lnTo>
                    <a:lnTo>
                      <a:pt x="11310955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78248" l="0" r="-32580" t="-178248"/>
                </a:stretch>
              </a:blipFill>
              <a:ln>
                <a:noFill/>
              </a:ln>
            </p:spPr>
          </p:sp>
          <p:sp>
            <p:nvSpPr>
              <p:cNvPr id="371" name="Google Shape;371;p6"/>
              <p:cNvSpPr txBox="1"/>
              <p:nvPr/>
            </p:nvSpPr>
            <p:spPr>
              <a:xfrm>
                <a:off x="0" y="-57150"/>
                <a:ext cx="11310955" cy="1337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Catálogo de temas, fichas de taller y matching funcionando (Slices 4-6)</a:t>
                </a:r>
                <a:endParaRPr/>
              </a:p>
            </p:txBody>
          </p:sp>
        </p:grpSp>
        <p:grpSp>
          <p:nvGrpSpPr>
            <p:cNvPr id="372" name="Google Shape;372;p6"/>
            <p:cNvGrpSpPr/>
            <p:nvPr/>
          </p:nvGrpSpPr>
          <p:grpSpPr>
            <a:xfrm>
              <a:off x="0" y="3051810"/>
              <a:ext cx="11310955" cy="1337310"/>
              <a:chOff x="0" y="-57150"/>
              <a:chExt cx="11310955" cy="1337310"/>
            </a:xfrm>
          </p:grpSpPr>
          <p:sp>
            <p:nvSpPr>
              <p:cNvPr id="373" name="Google Shape;373;p6"/>
              <p:cNvSpPr/>
              <p:nvPr/>
            </p:nvSpPr>
            <p:spPr>
              <a:xfrm>
                <a:off x="0" y="0"/>
                <a:ext cx="11310955" cy="1280160"/>
              </a:xfrm>
              <a:custGeom>
                <a:rect b="b" l="l" r="r" t="t"/>
                <a:pathLst>
                  <a:path extrusionOk="0" h="1280160" w="11310955">
                    <a:moveTo>
                      <a:pt x="0" y="0"/>
                    </a:moveTo>
                    <a:lnTo>
                      <a:pt x="11310955" y="0"/>
                    </a:lnTo>
                    <a:lnTo>
                      <a:pt x="11310955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78248" l="0" r="-32580" t="-178248"/>
                </a:stretch>
              </a:blipFill>
              <a:ln>
                <a:noFill/>
              </a:ln>
            </p:spPr>
          </p:sp>
          <p:sp>
            <p:nvSpPr>
              <p:cNvPr id="374" name="Google Shape;374;p6"/>
              <p:cNvSpPr txBox="1"/>
              <p:nvPr/>
            </p:nvSpPr>
            <p:spPr>
              <a:xfrm>
                <a:off x="0" y="-57150"/>
                <a:ext cx="11310955" cy="1337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 no se concreta un piloto externo, la meta baja honestamente a TRL 5</a:t>
                </a:r>
                <a:endParaRPr/>
              </a:p>
            </p:txBody>
          </p:sp>
        </p:grpSp>
      </p:grpSp>
      <p:sp>
        <p:nvSpPr>
          <p:cNvPr id="375" name="Google Shape;375;p6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7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7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p7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8" name="Google Shape;388;p7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389" name="Google Shape;389;p7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390" name="Google Shape;390;p7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DESARROLLO</a:t>
              </a:r>
              <a:endParaRPr/>
            </a:p>
          </p:txBody>
        </p:sp>
      </p:grpSp>
      <p:grpSp>
        <p:nvGrpSpPr>
          <p:cNvPr id="391" name="Google Shape;391;p7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392" name="Google Shape;392;p7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393" name="Google Shape;393;p7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Arquitectura: Microservicios — ya migrados</a:t>
              </a:r>
              <a:endParaRPr/>
            </a:p>
          </p:txBody>
        </p:sp>
      </p:grpSp>
      <p:sp>
        <p:nvSpPr>
          <p:cNvPr id="394" name="Google Shape;394;p7"/>
          <p:cNvSpPr/>
          <p:nvPr/>
        </p:nvSpPr>
        <p:spPr>
          <a:xfrm>
            <a:off x="960120" y="2263140"/>
            <a:ext cx="8641080" cy="617220"/>
          </a:xfrm>
          <a:custGeom>
            <a:rect b="b" l="l" r="r" t="t"/>
            <a:pathLst>
              <a:path extrusionOk="0" h="822960" w="1152144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1338560" y="0"/>
                </a:lnTo>
                <a:cubicBezTo>
                  <a:pt x="11439525" y="0"/>
                  <a:pt x="11521440" y="81915"/>
                  <a:pt x="11521440" y="182880"/>
                </a:cubicBezTo>
                <a:lnTo>
                  <a:pt x="11521440" y="640080"/>
                </a:lnTo>
                <a:cubicBezTo>
                  <a:pt x="11521440" y="741045"/>
                  <a:pt x="11439525" y="822960"/>
                  <a:pt x="11338560" y="822960"/>
                </a:cubicBezTo>
                <a:lnTo>
                  <a:pt x="182880" y="822960"/>
                </a:lnTo>
                <a:cubicBezTo>
                  <a:pt x="81915" y="822960"/>
                  <a:pt x="0" y="741045"/>
                  <a:pt x="0" y="640080"/>
                </a:cubicBezTo>
                <a:close/>
              </a:path>
            </a:pathLst>
          </a:custGeom>
          <a:solidFill>
            <a:srgbClr val="BAFF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7"/>
          <p:cNvGrpSpPr/>
          <p:nvPr/>
        </p:nvGrpSpPr>
        <p:grpSpPr>
          <a:xfrm>
            <a:off x="1234440" y="2234565"/>
            <a:ext cx="8229600" cy="645795"/>
            <a:chOff x="0" y="-38100"/>
            <a:chExt cx="10972800" cy="861060"/>
          </a:xfrm>
        </p:grpSpPr>
        <p:sp>
          <p:nvSpPr>
            <p:cNvPr id="396" name="Google Shape;396;p7"/>
            <p:cNvSpPr/>
            <p:nvPr/>
          </p:nvSpPr>
          <p:spPr>
            <a:xfrm>
              <a:off x="0" y="0"/>
              <a:ext cx="10972800" cy="822960"/>
            </a:xfrm>
            <a:custGeom>
              <a:rect b="b" l="l" r="r" t="t"/>
              <a:pathLst>
                <a:path extrusionOk="0" h="822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794" l="0" r="0" t="-209794"/>
              </a:stretch>
            </a:blipFill>
            <a:ln>
              <a:noFill/>
            </a:ln>
          </p:spPr>
        </p:sp>
        <p:sp>
          <p:nvSpPr>
            <p:cNvPr id="397" name="Google Shape;397;p7"/>
            <p:cNvSpPr txBox="1"/>
            <p:nvPr/>
          </p:nvSpPr>
          <p:spPr>
            <a:xfrm>
              <a:off x="0" y="-38100"/>
              <a:ext cx="109728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4E7B45"/>
                  </a:solidFill>
                  <a:latin typeface="Calibri"/>
                  <a:ea typeface="Calibri"/>
                  <a:cs typeface="Calibri"/>
                  <a:sym typeface="Calibri"/>
                </a:rPr>
                <a:t>✓ Migración M0–M2 completada y verificada (PR #16, #18, #19)</a:t>
              </a:r>
              <a:endParaRPr/>
            </a:p>
          </p:txBody>
        </p:sp>
      </p:grpSp>
      <p:sp>
        <p:nvSpPr>
          <p:cNvPr id="398" name="Google Shape;398;p7"/>
          <p:cNvSpPr/>
          <p:nvPr/>
        </p:nvSpPr>
        <p:spPr>
          <a:xfrm>
            <a:off x="960120" y="3223260"/>
            <a:ext cx="5143500" cy="2263140"/>
          </a:xfrm>
          <a:custGeom>
            <a:rect b="b" l="l" r="r" t="t"/>
            <a:pathLst>
              <a:path extrusionOk="0" h="3017520" w="685800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638544" y="0"/>
                </a:lnTo>
                <a:cubicBezTo>
                  <a:pt x="6759702" y="0"/>
                  <a:pt x="6858000" y="98298"/>
                  <a:pt x="6858000" y="219456"/>
                </a:cubicBezTo>
                <a:lnTo>
                  <a:pt x="6858000" y="2798064"/>
                </a:lnTo>
                <a:cubicBezTo>
                  <a:pt x="6858000" y="2919222"/>
                  <a:pt x="6759702" y="3017520"/>
                  <a:pt x="6638544" y="3017520"/>
                </a:cubicBezTo>
                <a:lnTo>
                  <a:pt x="219456" y="3017520"/>
                </a:lnTo>
                <a:cubicBezTo>
                  <a:pt x="98298" y="3017520"/>
                  <a:pt x="0" y="2919222"/>
                  <a:pt x="0" y="2798064"/>
                </a:cubicBezTo>
                <a:close/>
              </a:path>
            </a:pathLst>
          </a:custGeom>
          <a:solidFill>
            <a:srgbClr val="0034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7"/>
          <p:cNvGrpSpPr/>
          <p:nvPr/>
        </p:nvGrpSpPr>
        <p:grpSpPr>
          <a:xfrm>
            <a:off x="1234440" y="3365849"/>
            <a:ext cx="3566160" cy="515779"/>
            <a:chOff x="0" y="-47625"/>
            <a:chExt cx="4754880" cy="687705"/>
          </a:xfrm>
        </p:grpSpPr>
        <p:sp>
          <p:nvSpPr>
            <p:cNvPr id="400" name="Google Shape;400;p7"/>
            <p:cNvSpPr/>
            <p:nvPr/>
          </p:nvSpPr>
          <p:spPr>
            <a:xfrm>
              <a:off x="0" y="0"/>
              <a:ext cx="4754880" cy="640080"/>
            </a:xfrm>
            <a:custGeom>
              <a:rect b="b" l="l" r="r" t="t"/>
              <a:pathLst>
                <a:path extrusionOk="0"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4743" l="0" r="0" t="-94743"/>
              </a:stretch>
            </a:blipFill>
            <a:ln>
              <a:noFill/>
            </a:ln>
          </p:spPr>
        </p:sp>
        <p:sp>
          <p:nvSpPr>
            <p:cNvPr id="401" name="Google Shape;401;p7"/>
            <p:cNvSpPr txBox="1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auth-service</a:t>
              </a:r>
              <a:endParaRPr/>
            </a:p>
          </p:txBody>
        </p:sp>
      </p:grpSp>
      <p:sp>
        <p:nvSpPr>
          <p:cNvPr id="402" name="Google Shape;402;p7"/>
          <p:cNvSpPr/>
          <p:nvPr/>
        </p:nvSpPr>
        <p:spPr>
          <a:xfrm>
            <a:off x="4594860" y="3429000"/>
            <a:ext cx="1371600" cy="411480"/>
          </a:xfrm>
          <a:custGeom>
            <a:rect b="b" l="l" r="r" t="t"/>
            <a:pathLst>
              <a:path extrusionOk="0" h="548640" w="1828800">
                <a:moveTo>
                  <a:pt x="0" y="274320"/>
                </a:moveTo>
                <a:cubicBezTo>
                  <a:pt x="0" y="122809"/>
                  <a:pt x="122809" y="0"/>
                  <a:pt x="274320" y="0"/>
                </a:cubicBezTo>
                <a:lnTo>
                  <a:pt x="1554480" y="0"/>
                </a:lnTo>
                <a:cubicBezTo>
                  <a:pt x="1705991" y="0"/>
                  <a:pt x="1828800" y="122809"/>
                  <a:pt x="1828800" y="274320"/>
                </a:cubicBezTo>
                <a:cubicBezTo>
                  <a:pt x="1828800" y="425831"/>
                  <a:pt x="1705991" y="548640"/>
                  <a:pt x="1554480" y="548640"/>
                </a:cubicBezTo>
                <a:lnTo>
                  <a:pt x="274320" y="548640"/>
                </a:lnTo>
                <a:cubicBezTo>
                  <a:pt x="122809" y="548640"/>
                  <a:pt x="0" y="425831"/>
                  <a:pt x="0" y="274320"/>
                </a:cubicBezTo>
                <a:close/>
              </a:path>
            </a:pathLst>
          </a:custGeom>
          <a:solidFill>
            <a:srgbClr val="1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7"/>
          <p:cNvGrpSpPr/>
          <p:nvPr/>
        </p:nvGrpSpPr>
        <p:grpSpPr>
          <a:xfrm>
            <a:off x="4594860" y="3400425"/>
            <a:ext cx="1371600" cy="440055"/>
            <a:chOff x="0" y="-38100"/>
            <a:chExt cx="1828800" cy="586740"/>
          </a:xfrm>
        </p:grpSpPr>
        <p:sp>
          <p:nvSpPr>
            <p:cNvPr id="404" name="Google Shape;404;p7"/>
            <p:cNvSpPr/>
            <p:nvPr/>
          </p:nvSpPr>
          <p:spPr>
            <a:xfrm>
              <a:off x="0" y="0"/>
              <a:ext cx="1828800" cy="548640"/>
            </a:xfrm>
            <a:custGeom>
              <a:rect b="b" l="l" r="r" t="t"/>
              <a:pathLst>
                <a:path extrusionOk="0"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950" l="0" r="0" t="-14950"/>
              </a:stretch>
            </a:blipFill>
            <a:ln>
              <a:noFill/>
            </a:ln>
          </p:spPr>
        </p:sp>
        <p:sp>
          <p:nvSpPr>
            <p:cNvPr id="405" name="Google Shape;405;p7"/>
            <p:cNvSpPr txBox="1"/>
            <p:nvPr/>
          </p:nvSpPr>
          <p:spPr>
            <a:xfrm>
              <a:off x="0" y="-38100"/>
              <a:ext cx="1828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CONSTRUIDO</a:t>
              </a:r>
              <a:endParaRPr/>
            </a:p>
          </p:txBody>
        </p:sp>
      </p:grpSp>
      <p:grpSp>
        <p:nvGrpSpPr>
          <p:cNvPr id="406" name="Google Shape;406;p7"/>
          <p:cNvGrpSpPr/>
          <p:nvPr/>
        </p:nvGrpSpPr>
        <p:grpSpPr>
          <a:xfrm>
            <a:off x="1234440" y="3954494"/>
            <a:ext cx="4594860" cy="1435894"/>
            <a:chOff x="0" y="-85725"/>
            <a:chExt cx="6126480" cy="1914525"/>
          </a:xfrm>
        </p:grpSpPr>
        <p:sp>
          <p:nvSpPr>
            <p:cNvPr id="407" name="Google Shape;407;p7"/>
            <p:cNvSpPr/>
            <p:nvPr/>
          </p:nvSpPr>
          <p:spPr>
            <a:xfrm>
              <a:off x="0" y="0"/>
              <a:ext cx="6126480" cy="1828800"/>
            </a:xfrm>
            <a:custGeom>
              <a:rect b="b" l="l" r="r" t="t"/>
              <a:pathLst>
                <a:path extrusionOk="0" h="18288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274" l="0" r="0" t="-15274"/>
              </a:stretch>
            </a:blipFill>
            <a:ln>
              <a:noFill/>
            </a:ln>
          </p:spPr>
        </p:sp>
        <p:sp>
          <p:nvSpPr>
            <p:cNvPr id="408" name="Google Shape;408;p7"/>
            <p:cNvSpPr txBox="1"/>
            <p:nvPr/>
          </p:nvSpPr>
          <p:spPr>
            <a:xfrm>
              <a:off x="0" y="-85725"/>
              <a:ext cx="6126480" cy="191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Login, JWT, activación. Sin base propia.</a:t>
              </a:r>
              <a:endParaRPr/>
            </a:p>
          </p:txBody>
        </p:sp>
      </p:grpSp>
      <p:sp>
        <p:nvSpPr>
          <p:cNvPr id="409" name="Google Shape;409;p7"/>
          <p:cNvSpPr/>
          <p:nvPr/>
        </p:nvSpPr>
        <p:spPr>
          <a:xfrm>
            <a:off x="6377940" y="3223260"/>
            <a:ext cx="5143500" cy="2263140"/>
          </a:xfrm>
          <a:custGeom>
            <a:rect b="b" l="l" r="r" t="t"/>
            <a:pathLst>
              <a:path extrusionOk="0" h="3017520" w="685800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638544" y="0"/>
                </a:lnTo>
                <a:cubicBezTo>
                  <a:pt x="6759702" y="0"/>
                  <a:pt x="6858000" y="98298"/>
                  <a:pt x="6858000" y="219456"/>
                </a:cubicBezTo>
                <a:lnTo>
                  <a:pt x="6858000" y="2798064"/>
                </a:lnTo>
                <a:cubicBezTo>
                  <a:pt x="6858000" y="2919222"/>
                  <a:pt x="6759702" y="3017520"/>
                  <a:pt x="6638544" y="3017520"/>
                </a:cubicBezTo>
                <a:lnTo>
                  <a:pt x="219456" y="3017520"/>
                </a:lnTo>
                <a:cubicBezTo>
                  <a:pt x="98298" y="3017520"/>
                  <a:pt x="0" y="2919222"/>
                  <a:pt x="0" y="279806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0" name="Google Shape;410;p7"/>
          <p:cNvGrpSpPr/>
          <p:nvPr/>
        </p:nvGrpSpPr>
        <p:grpSpPr>
          <a:xfrm>
            <a:off x="6652260" y="3365849"/>
            <a:ext cx="3566160" cy="515779"/>
            <a:chOff x="0" y="-47625"/>
            <a:chExt cx="4754880" cy="687705"/>
          </a:xfrm>
        </p:grpSpPr>
        <p:sp>
          <p:nvSpPr>
            <p:cNvPr id="411" name="Google Shape;411;p7"/>
            <p:cNvSpPr/>
            <p:nvPr/>
          </p:nvSpPr>
          <p:spPr>
            <a:xfrm>
              <a:off x="0" y="0"/>
              <a:ext cx="4754880" cy="640080"/>
            </a:xfrm>
            <a:custGeom>
              <a:rect b="b" l="l" r="r" t="t"/>
              <a:pathLst>
                <a:path extrusionOk="0"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4743" l="0" r="0" t="-94743"/>
              </a:stretch>
            </a:blipFill>
            <a:ln>
              <a:noFill/>
            </a:ln>
          </p:spPr>
        </p:sp>
        <p:sp>
          <p:nvSpPr>
            <p:cNvPr id="412" name="Google Shape;412;p7"/>
            <p:cNvSpPr txBox="1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identity-service</a:t>
              </a:r>
              <a:endParaRPr/>
            </a:p>
          </p:txBody>
        </p:sp>
      </p:grpSp>
      <p:sp>
        <p:nvSpPr>
          <p:cNvPr id="413" name="Google Shape;413;p7"/>
          <p:cNvSpPr/>
          <p:nvPr/>
        </p:nvSpPr>
        <p:spPr>
          <a:xfrm>
            <a:off x="10012680" y="3429000"/>
            <a:ext cx="1371600" cy="411480"/>
          </a:xfrm>
          <a:custGeom>
            <a:rect b="b" l="l" r="r" t="t"/>
            <a:pathLst>
              <a:path extrusionOk="0" h="548640" w="1828800">
                <a:moveTo>
                  <a:pt x="0" y="274320"/>
                </a:moveTo>
                <a:cubicBezTo>
                  <a:pt x="0" y="122809"/>
                  <a:pt x="122809" y="0"/>
                  <a:pt x="274320" y="0"/>
                </a:cubicBezTo>
                <a:lnTo>
                  <a:pt x="1554480" y="0"/>
                </a:lnTo>
                <a:cubicBezTo>
                  <a:pt x="1705991" y="0"/>
                  <a:pt x="1828800" y="122809"/>
                  <a:pt x="1828800" y="274320"/>
                </a:cubicBezTo>
                <a:cubicBezTo>
                  <a:pt x="1828800" y="425831"/>
                  <a:pt x="1705991" y="548640"/>
                  <a:pt x="1554480" y="548640"/>
                </a:cubicBezTo>
                <a:lnTo>
                  <a:pt x="274320" y="548640"/>
                </a:lnTo>
                <a:cubicBezTo>
                  <a:pt x="122809" y="548640"/>
                  <a:pt x="0" y="425831"/>
                  <a:pt x="0" y="274320"/>
                </a:cubicBezTo>
                <a:close/>
              </a:path>
            </a:pathLst>
          </a:custGeom>
          <a:solidFill>
            <a:srgbClr val="1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7"/>
          <p:cNvGrpSpPr/>
          <p:nvPr/>
        </p:nvGrpSpPr>
        <p:grpSpPr>
          <a:xfrm>
            <a:off x="10012680" y="3400425"/>
            <a:ext cx="1371600" cy="440055"/>
            <a:chOff x="0" y="-38100"/>
            <a:chExt cx="1828800" cy="586740"/>
          </a:xfrm>
        </p:grpSpPr>
        <p:sp>
          <p:nvSpPr>
            <p:cNvPr id="415" name="Google Shape;415;p7"/>
            <p:cNvSpPr/>
            <p:nvPr/>
          </p:nvSpPr>
          <p:spPr>
            <a:xfrm>
              <a:off x="0" y="0"/>
              <a:ext cx="1828800" cy="548640"/>
            </a:xfrm>
            <a:custGeom>
              <a:rect b="b" l="l" r="r" t="t"/>
              <a:pathLst>
                <a:path extrusionOk="0"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950" l="0" r="0" t="-14950"/>
              </a:stretch>
            </a:blipFill>
            <a:ln>
              <a:noFill/>
            </a:ln>
          </p:spPr>
        </p:sp>
        <p:sp>
          <p:nvSpPr>
            <p:cNvPr id="416" name="Google Shape;416;p7"/>
            <p:cNvSpPr txBox="1"/>
            <p:nvPr/>
          </p:nvSpPr>
          <p:spPr>
            <a:xfrm>
              <a:off x="0" y="-38100"/>
              <a:ext cx="1828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CONSTRUIDO</a:t>
              </a:r>
              <a:endParaRPr/>
            </a:p>
          </p:txBody>
        </p:sp>
      </p:grpSp>
      <p:grpSp>
        <p:nvGrpSpPr>
          <p:cNvPr id="417" name="Google Shape;417;p7"/>
          <p:cNvGrpSpPr/>
          <p:nvPr/>
        </p:nvGrpSpPr>
        <p:grpSpPr>
          <a:xfrm>
            <a:off x="6652260" y="3954494"/>
            <a:ext cx="4594860" cy="1435894"/>
            <a:chOff x="0" y="-85725"/>
            <a:chExt cx="6126480" cy="1914525"/>
          </a:xfrm>
        </p:grpSpPr>
        <p:sp>
          <p:nvSpPr>
            <p:cNvPr id="418" name="Google Shape;418;p7"/>
            <p:cNvSpPr/>
            <p:nvPr/>
          </p:nvSpPr>
          <p:spPr>
            <a:xfrm>
              <a:off x="0" y="0"/>
              <a:ext cx="6126480" cy="1828800"/>
            </a:xfrm>
            <a:custGeom>
              <a:rect b="b" l="l" r="r" t="t"/>
              <a:pathLst>
                <a:path extrusionOk="0" h="18288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274" l="0" r="0" t="-15274"/>
              </a:stretch>
            </a:blipFill>
            <a:ln>
              <a:noFill/>
            </a:ln>
          </p:spPr>
        </p:sp>
        <p:sp>
          <p:nvSpPr>
            <p:cNvPr id="419" name="Google Shape;419;p7"/>
            <p:cNvSpPr txBox="1"/>
            <p:nvPr/>
          </p:nvSpPr>
          <p:spPr>
            <a:xfrm>
              <a:off x="0" y="-85725"/>
              <a:ext cx="6126480" cy="191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Empresas, personas, carga CSV, correo.</a:t>
              </a:r>
              <a:endParaRPr/>
            </a:p>
          </p:txBody>
        </p:sp>
      </p:grpSp>
      <p:sp>
        <p:nvSpPr>
          <p:cNvPr id="420" name="Google Shape;420;p7"/>
          <p:cNvSpPr/>
          <p:nvPr/>
        </p:nvSpPr>
        <p:spPr>
          <a:xfrm>
            <a:off x="960120" y="5760720"/>
            <a:ext cx="5143500" cy="2263140"/>
          </a:xfrm>
          <a:custGeom>
            <a:rect b="b" l="l" r="r" t="t"/>
            <a:pathLst>
              <a:path extrusionOk="0" h="3017520" w="685800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638544" y="0"/>
                </a:lnTo>
                <a:cubicBezTo>
                  <a:pt x="6759702" y="0"/>
                  <a:pt x="6858000" y="98298"/>
                  <a:pt x="6858000" y="219456"/>
                </a:cubicBezTo>
                <a:lnTo>
                  <a:pt x="6858000" y="2798064"/>
                </a:lnTo>
                <a:cubicBezTo>
                  <a:pt x="6858000" y="2919222"/>
                  <a:pt x="6759702" y="3017520"/>
                  <a:pt x="6638544" y="3017520"/>
                </a:cubicBezTo>
                <a:lnTo>
                  <a:pt x="219456" y="3017520"/>
                </a:lnTo>
                <a:cubicBezTo>
                  <a:pt x="98298" y="3017520"/>
                  <a:pt x="0" y="2919222"/>
                  <a:pt x="0" y="2798064"/>
                </a:cubicBezTo>
                <a:close/>
              </a:path>
            </a:pathLst>
          </a:cu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7"/>
          <p:cNvGrpSpPr/>
          <p:nvPr/>
        </p:nvGrpSpPr>
        <p:grpSpPr>
          <a:xfrm>
            <a:off x="1234440" y="5903309"/>
            <a:ext cx="3566160" cy="515779"/>
            <a:chOff x="0" y="-47625"/>
            <a:chExt cx="4754880" cy="687705"/>
          </a:xfrm>
        </p:grpSpPr>
        <p:sp>
          <p:nvSpPr>
            <p:cNvPr id="422" name="Google Shape;422;p7"/>
            <p:cNvSpPr/>
            <p:nvPr/>
          </p:nvSpPr>
          <p:spPr>
            <a:xfrm>
              <a:off x="0" y="0"/>
              <a:ext cx="4754880" cy="640080"/>
            </a:xfrm>
            <a:custGeom>
              <a:rect b="b" l="l" r="r" t="t"/>
              <a:pathLst>
                <a:path extrusionOk="0"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4743" l="0" r="0" t="-94743"/>
              </a:stretch>
            </a:blipFill>
            <a:ln>
              <a:noFill/>
            </a:ln>
          </p:spPr>
        </p:sp>
        <p:sp>
          <p:nvSpPr>
            <p:cNvPr id="423" name="Google Shape;423;p7"/>
            <p:cNvSpPr txBox="1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learning-service</a:t>
              </a:r>
              <a:endParaRPr/>
            </a:p>
          </p:txBody>
        </p:sp>
      </p:grpSp>
      <p:sp>
        <p:nvSpPr>
          <p:cNvPr id="424" name="Google Shape;424;p7"/>
          <p:cNvSpPr/>
          <p:nvPr/>
        </p:nvSpPr>
        <p:spPr>
          <a:xfrm>
            <a:off x="4594860" y="5966460"/>
            <a:ext cx="1371600" cy="411480"/>
          </a:xfrm>
          <a:custGeom>
            <a:rect b="b" l="l" r="r" t="t"/>
            <a:pathLst>
              <a:path extrusionOk="0" h="548640" w="1828800">
                <a:moveTo>
                  <a:pt x="0" y="274320"/>
                </a:moveTo>
                <a:cubicBezTo>
                  <a:pt x="0" y="122809"/>
                  <a:pt x="122809" y="0"/>
                  <a:pt x="274320" y="0"/>
                </a:cubicBezTo>
                <a:lnTo>
                  <a:pt x="1554480" y="0"/>
                </a:lnTo>
                <a:cubicBezTo>
                  <a:pt x="1705991" y="0"/>
                  <a:pt x="1828800" y="122809"/>
                  <a:pt x="1828800" y="274320"/>
                </a:cubicBezTo>
                <a:cubicBezTo>
                  <a:pt x="1828800" y="425831"/>
                  <a:pt x="1705991" y="548640"/>
                  <a:pt x="1554480" y="548640"/>
                </a:cubicBezTo>
                <a:lnTo>
                  <a:pt x="274320" y="548640"/>
                </a:lnTo>
                <a:cubicBezTo>
                  <a:pt x="122809" y="548640"/>
                  <a:pt x="0" y="425831"/>
                  <a:pt x="0" y="27432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7"/>
          <p:cNvGrpSpPr/>
          <p:nvPr/>
        </p:nvGrpSpPr>
        <p:grpSpPr>
          <a:xfrm>
            <a:off x="4594860" y="5937885"/>
            <a:ext cx="1371600" cy="440055"/>
            <a:chOff x="0" y="-38100"/>
            <a:chExt cx="1828800" cy="586740"/>
          </a:xfrm>
        </p:grpSpPr>
        <p:sp>
          <p:nvSpPr>
            <p:cNvPr id="426" name="Google Shape;426;p7"/>
            <p:cNvSpPr/>
            <p:nvPr/>
          </p:nvSpPr>
          <p:spPr>
            <a:xfrm>
              <a:off x="0" y="0"/>
              <a:ext cx="1828800" cy="548640"/>
            </a:xfrm>
            <a:custGeom>
              <a:rect b="b" l="l" r="r" t="t"/>
              <a:pathLst>
                <a:path extrusionOk="0"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950" l="0" r="0" t="-14950"/>
              </a:stretch>
            </a:blipFill>
            <a:ln>
              <a:noFill/>
            </a:ln>
          </p:spPr>
        </p:sp>
        <p:sp>
          <p:nvSpPr>
            <p:cNvPr id="427" name="Google Shape;427;p7"/>
            <p:cNvSpPr txBox="1"/>
            <p:nvPr/>
          </p:nvSpPr>
          <p:spPr>
            <a:xfrm>
              <a:off x="0" y="-38100"/>
              <a:ext cx="1828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PENDIENTE</a:t>
              </a:r>
              <a:endParaRPr/>
            </a:p>
          </p:txBody>
        </p:sp>
      </p:grpSp>
      <p:grpSp>
        <p:nvGrpSpPr>
          <p:cNvPr id="428" name="Google Shape;428;p7"/>
          <p:cNvGrpSpPr/>
          <p:nvPr/>
        </p:nvGrpSpPr>
        <p:grpSpPr>
          <a:xfrm>
            <a:off x="1234440" y="6491954"/>
            <a:ext cx="4594860" cy="1435894"/>
            <a:chOff x="0" y="-85725"/>
            <a:chExt cx="6126480" cy="1914525"/>
          </a:xfrm>
        </p:grpSpPr>
        <p:sp>
          <p:nvSpPr>
            <p:cNvPr id="429" name="Google Shape;429;p7"/>
            <p:cNvSpPr/>
            <p:nvPr/>
          </p:nvSpPr>
          <p:spPr>
            <a:xfrm>
              <a:off x="0" y="0"/>
              <a:ext cx="6126480" cy="1828800"/>
            </a:xfrm>
            <a:custGeom>
              <a:rect b="b" l="l" r="r" t="t"/>
              <a:pathLst>
                <a:path extrusionOk="0" h="18288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274" l="0" r="0" t="-15274"/>
              </a:stretch>
            </a:blipFill>
            <a:ln>
              <a:noFill/>
            </a:ln>
          </p:spPr>
        </p:sp>
        <p:sp>
          <p:nvSpPr>
            <p:cNvPr id="430" name="Google Shape;430;p7"/>
            <p:cNvSpPr txBox="1"/>
            <p:nvPr/>
          </p:nvSpPr>
          <p:spPr>
            <a:xfrm>
              <a:off x="0" y="-85725"/>
              <a:ext cx="6126480" cy="191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Temas y fichas de taller.</a:t>
              </a:r>
              <a:endParaRPr/>
            </a:p>
          </p:txBody>
        </p:sp>
      </p:grpSp>
      <p:sp>
        <p:nvSpPr>
          <p:cNvPr id="431" name="Google Shape;431;p7"/>
          <p:cNvSpPr/>
          <p:nvPr/>
        </p:nvSpPr>
        <p:spPr>
          <a:xfrm>
            <a:off x="6377940" y="5760720"/>
            <a:ext cx="5143500" cy="2263140"/>
          </a:xfrm>
          <a:custGeom>
            <a:rect b="b" l="l" r="r" t="t"/>
            <a:pathLst>
              <a:path extrusionOk="0" h="3017520" w="685800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638544" y="0"/>
                </a:lnTo>
                <a:cubicBezTo>
                  <a:pt x="6759702" y="0"/>
                  <a:pt x="6858000" y="98298"/>
                  <a:pt x="6858000" y="219456"/>
                </a:cubicBezTo>
                <a:lnTo>
                  <a:pt x="6858000" y="2798064"/>
                </a:lnTo>
                <a:cubicBezTo>
                  <a:pt x="6858000" y="2919222"/>
                  <a:pt x="6759702" y="3017520"/>
                  <a:pt x="6638544" y="3017520"/>
                </a:cubicBezTo>
                <a:lnTo>
                  <a:pt x="219456" y="3017520"/>
                </a:lnTo>
                <a:cubicBezTo>
                  <a:pt x="98298" y="3017520"/>
                  <a:pt x="0" y="2919222"/>
                  <a:pt x="0" y="2798064"/>
                </a:cubicBezTo>
                <a:close/>
              </a:path>
            </a:pathLst>
          </a:custGeom>
          <a:solidFill>
            <a:srgbClr val="803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7"/>
          <p:cNvGrpSpPr/>
          <p:nvPr/>
        </p:nvGrpSpPr>
        <p:grpSpPr>
          <a:xfrm>
            <a:off x="6652260" y="5903309"/>
            <a:ext cx="3566160" cy="515779"/>
            <a:chOff x="0" y="-47625"/>
            <a:chExt cx="4754880" cy="687705"/>
          </a:xfrm>
        </p:grpSpPr>
        <p:sp>
          <p:nvSpPr>
            <p:cNvPr id="433" name="Google Shape;433;p7"/>
            <p:cNvSpPr/>
            <p:nvPr/>
          </p:nvSpPr>
          <p:spPr>
            <a:xfrm>
              <a:off x="0" y="0"/>
              <a:ext cx="4754880" cy="640080"/>
            </a:xfrm>
            <a:custGeom>
              <a:rect b="b" l="l" r="r" t="t"/>
              <a:pathLst>
                <a:path extrusionOk="0"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4743" l="0" r="0" t="-94743"/>
              </a:stretch>
            </a:blipFill>
            <a:ln>
              <a:noFill/>
            </a:ln>
          </p:spPr>
        </p:sp>
        <p:sp>
          <p:nvSpPr>
            <p:cNvPr id="434" name="Google Shape;434;p7"/>
            <p:cNvSpPr txBox="1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matching-service</a:t>
              </a:r>
              <a:endParaRPr/>
            </a:p>
          </p:txBody>
        </p:sp>
      </p:grpSp>
      <p:sp>
        <p:nvSpPr>
          <p:cNvPr id="435" name="Google Shape;435;p7"/>
          <p:cNvSpPr/>
          <p:nvPr/>
        </p:nvSpPr>
        <p:spPr>
          <a:xfrm>
            <a:off x="10012680" y="5966460"/>
            <a:ext cx="1371600" cy="411480"/>
          </a:xfrm>
          <a:custGeom>
            <a:rect b="b" l="l" r="r" t="t"/>
            <a:pathLst>
              <a:path extrusionOk="0" h="548640" w="1828800">
                <a:moveTo>
                  <a:pt x="0" y="274320"/>
                </a:moveTo>
                <a:cubicBezTo>
                  <a:pt x="0" y="122809"/>
                  <a:pt x="122809" y="0"/>
                  <a:pt x="274320" y="0"/>
                </a:cubicBezTo>
                <a:lnTo>
                  <a:pt x="1554480" y="0"/>
                </a:lnTo>
                <a:cubicBezTo>
                  <a:pt x="1705991" y="0"/>
                  <a:pt x="1828800" y="122809"/>
                  <a:pt x="1828800" y="274320"/>
                </a:cubicBezTo>
                <a:cubicBezTo>
                  <a:pt x="1828800" y="425831"/>
                  <a:pt x="1705991" y="548640"/>
                  <a:pt x="1554480" y="548640"/>
                </a:cubicBezTo>
                <a:lnTo>
                  <a:pt x="274320" y="548640"/>
                </a:lnTo>
                <a:cubicBezTo>
                  <a:pt x="122809" y="548640"/>
                  <a:pt x="0" y="425831"/>
                  <a:pt x="0" y="27432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7"/>
          <p:cNvGrpSpPr/>
          <p:nvPr/>
        </p:nvGrpSpPr>
        <p:grpSpPr>
          <a:xfrm>
            <a:off x="10012680" y="5937885"/>
            <a:ext cx="1371600" cy="440055"/>
            <a:chOff x="0" y="-38100"/>
            <a:chExt cx="1828800" cy="586740"/>
          </a:xfrm>
        </p:grpSpPr>
        <p:sp>
          <p:nvSpPr>
            <p:cNvPr id="437" name="Google Shape;437;p7"/>
            <p:cNvSpPr/>
            <p:nvPr/>
          </p:nvSpPr>
          <p:spPr>
            <a:xfrm>
              <a:off x="0" y="0"/>
              <a:ext cx="1828800" cy="548640"/>
            </a:xfrm>
            <a:custGeom>
              <a:rect b="b" l="l" r="r" t="t"/>
              <a:pathLst>
                <a:path extrusionOk="0"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950" l="0" r="0" t="-14950"/>
              </a:stretch>
            </a:blipFill>
            <a:ln>
              <a:noFill/>
            </a:ln>
          </p:spPr>
        </p:sp>
        <p:sp>
          <p:nvSpPr>
            <p:cNvPr id="438" name="Google Shape;438;p7"/>
            <p:cNvSpPr txBox="1"/>
            <p:nvPr/>
          </p:nvSpPr>
          <p:spPr>
            <a:xfrm>
              <a:off x="0" y="-38100"/>
              <a:ext cx="1828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PENDIENTE</a:t>
              </a:r>
              <a:endParaRPr/>
            </a:p>
          </p:txBody>
        </p:sp>
      </p:grpSp>
      <p:grpSp>
        <p:nvGrpSpPr>
          <p:cNvPr id="439" name="Google Shape;439;p7"/>
          <p:cNvGrpSpPr/>
          <p:nvPr/>
        </p:nvGrpSpPr>
        <p:grpSpPr>
          <a:xfrm>
            <a:off x="6652260" y="6491954"/>
            <a:ext cx="4594860" cy="1435894"/>
            <a:chOff x="0" y="-85725"/>
            <a:chExt cx="6126480" cy="1914525"/>
          </a:xfrm>
        </p:grpSpPr>
        <p:sp>
          <p:nvSpPr>
            <p:cNvPr id="440" name="Google Shape;440;p7"/>
            <p:cNvSpPr/>
            <p:nvPr/>
          </p:nvSpPr>
          <p:spPr>
            <a:xfrm>
              <a:off x="0" y="0"/>
              <a:ext cx="6126480" cy="1828800"/>
            </a:xfrm>
            <a:custGeom>
              <a:rect b="b" l="l" r="r" t="t"/>
              <a:pathLst>
                <a:path extrusionOk="0" h="18288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274" l="0" r="0" t="-15274"/>
              </a:stretch>
            </a:blipFill>
            <a:ln>
              <a:noFill/>
            </a:ln>
          </p:spPr>
        </p:sp>
        <p:sp>
          <p:nvSpPr>
            <p:cNvPr id="441" name="Google Shape;441;p7"/>
            <p:cNvSpPr txBox="1"/>
            <p:nvPr/>
          </p:nvSpPr>
          <p:spPr>
            <a:xfrm>
              <a:off x="0" y="-85725"/>
              <a:ext cx="6126480" cy="191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Matches corporativos estilo swipe.</a:t>
              </a:r>
              <a:endParaRPr/>
            </a:p>
          </p:txBody>
        </p:sp>
      </p:grpSp>
      <p:grpSp>
        <p:nvGrpSpPr>
          <p:cNvPr id="442" name="Google Shape;442;p7"/>
          <p:cNvGrpSpPr/>
          <p:nvPr/>
        </p:nvGrpSpPr>
        <p:grpSpPr>
          <a:xfrm>
            <a:off x="11932920" y="3194685"/>
            <a:ext cx="5486400" cy="508635"/>
            <a:chOff x="0" y="-38100"/>
            <a:chExt cx="7315200" cy="678180"/>
          </a:xfrm>
        </p:grpSpPr>
        <p:sp>
          <p:nvSpPr>
            <p:cNvPr id="443" name="Google Shape;443;p7"/>
            <p:cNvSpPr/>
            <p:nvPr/>
          </p:nvSpPr>
          <p:spPr>
            <a:xfrm>
              <a:off x="0" y="0"/>
              <a:ext cx="7315200" cy="640080"/>
            </a:xfrm>
            <a:custGeom>
              <a:rect b="b" l="l" r="r" t="t"/>
              <a:pathLst>
                <a:path extrusionOk="0"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</p:sp>
        <p:sp>
          <p:nvSpPr>
            <p:cNvPr id="444" name="Google Shape;444;p7"/>
            <p:cNvSpPr txBox="1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Proyección de escalabilidad</a:t>
              </a:r>
              <a:endParaRPr/>
            </a:p>
          </p:txBody>
        </p:sp>
      </p:grpSp>
      <p:grpSp>
        <p:nvGrpSpPr>
          <p:cNvPr id="445" name="Google Shape;445;p7"/>
          <p:cNvGrpSpPr/>
          <p:nvPr/>
        </p:nvGrpSpPr>
        <p:grpSpPr>
          <a:xfrm>
            <a:off x="11932920" y="3659886"/>
            <a:ext cx="5486400" cy="1017270"/>
            <a:chOff x="0" y="-76200"/>
            <a:chExt cx="7315200" cy="1356360"/>
          </a:xfrm>
        </p:grpSpPr>
        <p:sp>
          <p:nvSpPr>
            <p:cNvPr id="446" name="Google Shape;446;p7"/>
            <p:cNvSpPr/>
            <p:nvPr/>
          </p:nvSpPr>
          <p:spPr>
            <a:xfrm>
              <a:off x="0" y="0"/>
              <a:ext cx="7315200" cy="1280160"/>
            </a:xfrm>
            <a:custGeom>
              <a:rect b="b" l="l" r="r" t="t"/>
              <a:pathLst>
                <a:path extrusionOk="0"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447" name="Google Shape;447;p7"/>
            <p:cNvSpPr txBox="1"/>
            <p:nvPr/>
          </p:nvSpPr>
          <p:spPr>
            <a:xfrm>
              <a:off x="0" y="-76200"/>
              <a:ext cx="7315200" cy="135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Migrar en desarrollo es más seguro que migrar con datos reales en producción.</a:t>
              </a:r>
              <a:endParaRPr/>
            </a:p>
          </p:txBody>
        </p:sp>
      </p:grpSp>
      <p:grpSp>
        <p:nvGrpSpPr>
          <p:cNvPr id="448" name="Google Shape;448;p7"/>
          <p:cNvGrpSpPr/>
          <p:nvPr/>
        </p:nvGrpSpPr>
        <p:grpSpPr>
          <a:xfrm>
            <a:off x="11932920" y="4909185"/>
            <a:ext cx="5486400" cy="508635"/>
            <a:chOff x="0" y="-38100"/>
            <a:chExt cx="7315200" cy="678180"/>
          </a:xfrm>
        </p:grpSpPr>
        <p:sp>
          <p:nvSpPr>
            <p:cNvPr id="449" name="Google Shape;449;p7"/>
            <p:cNvSpPr/>
            <p:nvPr/>
          </p:nvSpPr>
          <p:spPr>
            <a:xfrm>
              <a:off x="0" y="0"/>
              <a:ext cx="7315200" cy="640080"/>
            </a:xfrm>
            <a:custGeom>
              <a:rect b="b" l="l" r="r" t="t"/>
              <a:pathLst>
                <a:path extrusionOk="0"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</p:sp>
        <p:sp>
          <p:nvSpPr>
            <p:cNvPr id="450" name="Google Shape;450;p7"/>
            <p:cNvSpPr txBox="1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Ya validado en vivo</a:t>
              </a:r>
              <a:endParaRPr/>
            </a:p>
          </p:txBody>
        </p:sp>
      </p:grpSp>
      <p:grpSp>
        <p:nvGrpSpPr>
          <p:cNvPr id="451" name="Google Shape;451;p7"/>
          <p:cNvGrpSpPr/>
          <p:nvPr/>
        </p:nvGrpSpPr>
        <p:grpSpPr>
          <a:xfrm>
            <a:off x="11932920" y="5374386"/>
            <a:ext cx="5486400" cy="1017270"/>
            <a:chOff x="0" y="-76200"/>
            <a:chExt cx="7315200" cy="1356360"/>
          </a:xfrm>
        </p:grpSpPr>
        <p:sp>
          <p:nvSpPr>
            <p:cNvPr id="452" name="Google Shape;452;p7"/>
            <p:cNvSpPr/>
            <p:nvPr/>
          </p:nvSpPr>
          <p:spPr>
            <a:xfrm>
              <a:off x="0" y="0"/>
              <a:ext cx="7315200" cy="1280160"/>
            </a:xfrm>
            <a:custGeom>
              <a:rect b="b" l="l" r="r" t="t"/>
              <a:pathLst>
                <a:path extrusionOk="0"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453" name="Google Shape;453;p7"/>
            <p:cNvSpPr txBox="1"/>
            <p:nvPr/>
          </p:nvSpPr>
          <p:spPr>
            <a:xfrm>
              <a:off x="0" y="-76200"/>
              <a:ext cx="7315200" cy="135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Karina vio login, empresas y panel admin funcionando el 29-09.</a:t>
              </a:r>
              <a:endParaRPr/>
            </a:p>
          </p:txBody>
        </p:sp>
      </p:grpSp>
      <p:grpSp>
        <p:nvGrpSpPr>
          <p:cNvPr id="454" name="Google Shape;454;p7"/>
          <p:cNvGrpSpPr/>
          <p:nvPr/>
        </p:nvGrpSpPr>
        <p:grpSpPr>
          <a:xfrm>
            <a:off x="11932920" y="6623685"/>
            <a:ext cx="5486400" cy="508635"/>
            <a:chOff x="0" y="-38100"/>
            <a:chExt cx="7315200" cy="678180"/>
          </a:xfrm>
        </p:grpSpPr>
        <p:sp>
          <p:nvSpPr>
            <p:cNvPr id="455" name="Google Shape;455;p7"/>
            <p:cNvSpPr/>
            <p:nvPr/>
          </p:nvSpPr>
          <p:spPr>
            <a:xfrm>
              <a:off x="0" y="0"/>
              <a:ext cx="7315200" cy="640080"/>
            </a:xfrm>
            <a:custGeom>
              <a:rect b="b" l="l" r="r" t="t"/>
              <a:pathLst>
                <a:path extrusionOk="0"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</p:sp>
        <p:sp>
          <p:nvSpPr>
            <p:cNvPr id="456" name="Google Shape;456;p7"/>
            <p:cNvSpPr txBox="1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Aislamiento de fallos</a:t>
              </a:r>
              <a:endParaRPr/>
            </a:p>
          </p:txBody>
        </p:sp>
      </p:grpSp>
      <p:grpSp>
        <p:nvGrpSpPr>
          <p:cNvPr id="457" name="Google Shape;457;p7"/>
          <p:cNvGrpSpPr/>
          <p:nvPr/>
        </p:nvGrpSpPr>
        <p:grpSpPr>
          <a:xfrm>
            <a:off x="11932920" y="7088886"/>
            <a:ext cx="5486400" cy="1017270"/>
            <a:chOff x="0" y="-76200"/>
            <a:chExt cx="7315200" cy="1356360"/>
          </a:xfrm>
        </p:grpSpPr>
        <p:sp>
          <p:nvSpPr>
            <p:cNvPr id="458" name="Google Shape;458;p7"/>
            <p:cNvSpPr/>
            <p:nvPr/>
          </p:nvSpPr>
          <p:spPr>
            <a:xfrm>
              <a:off x="0" y="0"/>
              <a:ext cx="7315200" cy="1280160"/>
            </a:xfrm>
            <a:custGeom>
              <a:rect b="b" l="l" r="r" t="t"/>
              <a:pathLst>
                <a:path extrusionOk="0"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459" name="Google Shape;459;p7"/>
            <p:cNvSpPr txBox="1"/>
            <p:nvPr/>
          </p:nvSpPr>
          <p:spPr>
            <a:xfrm>
              <a:off x="0" y="-76200"/>
              <a:ext cx="7315200" cy="135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Un problema en un servicio no tumba toda la plataforma.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8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8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8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2" name="Google Shape;472;p8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473" name="Google Shape;473;p8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474" name="Google Shape;474;p8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DESARROLLO</a:t>
              </a:r>
              <a:endParaRPr/>
            </a:p>
          </p:txBody>
        </p:sp>
      </p:grpSp>
      <p:grpSp>
        <p:nvGrpSpPr>
          <p:cNvPr id="475" name="Google Shape;475;p8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476" name="Google Shape;476;p8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477" name="Google Shape;477;p8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Stack tecnológico por capa</a:t>
              </a:r>
              <a:endParaRPr/>
            </a:p>
          </p:txBody>
        </p:sp>
      </p:grpSp>
      <p:grpSp>
        <p:nvGrpSpPr>
          <p:cNvPr id="478" name="Google Shape;478;p8"/>
          <p:cNvGrpSpPr/>
          <p:nvPr/>
        </p:nvGrpSpPr>
        <p:grpSpPr>
          <a:xfrm>
            <a:off x="3593403" y="2699149"/>
            <a:ext cx="3566160" cy="1105567"/>
            <a:chOff x="0" y="-11049"/>
            <a:chExt cx="4754880" cy="1474089"/>
          </a:xfrm>
        </p:grpSpPr>
        <p:sp>
          <p:nvSpPr>
            <p:cNvPr id="479" name="Google Shape;479;p8"/>
            <p:cNvSpPr/>
            <p:nvPr/>
          </p:nvSpPr>
          <p:spPr>
            <a:xfrm>
              <a:off x="0" y="0"/>
              <a:ext cx="4754880" cy="1426464"/>
            </a:xfrm>
            <a:custGeom>
              <a:rect b="b" l="l" r="r" t="t"/>
              <a:pathLst>
                <a:path extrusionOk="0" h="1426464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243584"/>
                  </a:lnTo>
                  <a:cubicBezTo>
                    <a:pt x="4754880" y="1344549"/>
                    <a:pt x="4672965" y="1426464"/>
                    <a:pt x="457200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0034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0" name="Google Shape;480;p8"/>
            <p:cNvGrpSpPr/>
            <p:nvPr/>
          </p:nvGrpSpPr>
          <p:grpSpPr>
            <a:xfrm>
              <a:off x="1693997" y="-11049"/>
              <a:ext cx="1478023" cy="1474089"/>
              <a:chOff x="0" y="-47625"/>
              <a:chExt cx="1478023" cy="1474089"/>
            </a:xfrm>
          </p:grpSpPr>
          <p:sp>
            <p:nvSpPr>
              <p:cNvPr id="481" name="Google Shape;481;p8"/>
              <p:cNvSpPr/>
              <p:nvPr/>
            </p:nvSpPr>
            <p:spPr>
              <a:xfrm>
                <a:off x="0" y="0"/>
                <a:ext cx="1478023" cy="1426464"/>
              </a:xfrm>
              <a:custGeom>
                <a:rect b="b" l="l" r="r" t="t"/>
                <a:pathLst>
                  <a:path extrusionOk="0" h="1426464" w="1478023">
                    <a:moveTo>
                      <a:pt x="0" y="0"/>
                    </a:moveTo>
                    <a:lnTo>
                      <a:pt x="1478023" y="0"/>
                    </a:lnTo>
                    <a:lnTo>
                      <a:pt x="1478023" y="1426464"/>
                    </a:lnTo>
                    <a:lnTo>
                      <a:pt x="0" y="1426464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950" l="0" r="-221709" t="-14950"/>
                </a:stretch>
              </a:blipFill>
              <a:ln>
                <a:noFill/>
              </a:ln>
            </p:spPr>
          </p:sp>
          <p:sp>
            <p:nvSpPr>
              <p:cNvPr id="482" name="Google Shape;482;p8"/>
              <p:cNvSpPr txBox="1"/>
              <p:nvPr/>
            </p:nvSpPr>
            <p:spPr>
              <a:xfrm>
                <a:off x="0" y="-47625"/>
                <a:ext cx="1478023" cy="1474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74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Frontend</a:t>
                </a:r>
                <a:endParaRPr/>
              </a:p>
            </p:txBody>
          </p:sp>
        </p:grpSp>
      </p:grpSp>
      <p:grpSp>
        <p:nvGrpSpPr>
          <p:cNvPr id="483" name="Google Shape;483;p8"/>
          <p:cNvGrpSpPr/>
          <p:nvPr/>
        </p:nvGrpSpPr>
        <p:grpSpPr>
          <a:xfrm>
            <a:off x="7265279" y="2706536"/>
            <a:ext cx="7246438" cy="1105567"/>
            <a:chOff x="0" y="-29337"/>
            <a:chExt cx="9661918" cy="1474089"/>
          </a:xfrm>
        </p:grpSpPr>
        <p:sp>
          <p:nvSpPr>
            <p:cNvPr id="484" name="Google Shape;484;p8"/>
            <p:cNvSpPr/>
            <p:nvPr/>
          </p:nvSpPr>
          <p:spPr>
            <a:xfrm>
              <a:off x="0" y="0"/>
              <a:ext cx="9661918" cy="1426464"/>
            </a:xfrm>
            <a:custGeom>
              <a:rect b="b" l="l" r="r" t="t"/>
              <a:pathLst>
                <a:path extrusionOk="0" h="1426464" w="9661918">
                  <a:moveTo>
                    <a:pt x="0" y="182880"/>
                  </a:moveTo>
                  <a:cubicBezTo>
                    <a:pt x="0" y="81915"/>
                    <a:pt x="166451" y="0"/>
                    <a:pt x="371612" y="0"/>
                  </a:cubicBezTo>
                  <a:lnTo>
                    <a:pt x="9290306" y="0"/>
                  </a:lnTo>
                  <a:cubicBezTo>
                    <a:pt x="9495467" y="0"/>
                    <a:pt x="9661918" y="81915"/>
                    <a:pt x="9661918" y="182880"/>
                  </a:cubicBezTo>
                  <a:lnTo>
                    <a:pt x="9661918" y="1243584"/>
                  </a:lnTo>
                  <a:cubicBezTo>
                    <a:pt x="9661918" y="1344549"/>
                    <a:pt x="9495467" y="1426464"/>
                    <a:pt x="9290306" y="1426464"/>
                  </a:cubicBezTo>
                  <a:lnTo>
                    <a:pt x="371612" y="1426464"/>
                  </a:lnTo>
                  <a:cubicBezTo>
                    <a:pt x="166451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DC7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5" name="Google Shape;485;p8"/>
            <p:cNvGrpSpPr/>
            <p:nvPr/>
          </p:nvGrpSpPr>
          <p:grpSpPr>
            <a:xfrm>
              <a:off x="126755" y="-29337"/>
              <a:ext cx="8163555" cy="779145"/>
              <a:chOff x="0" y="-47625"/>
              <a:chExt cx="8163555" cy="779145"/>
            </a:xfrm>
          </p:grpSpPr>
          <p:sp>
            <p:nvSpPr>
              <p:cNvPr id="486" name="Google Shape;486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DC77F"/>
              </a:solidFill>
              <a:ln>
                <a:noFill/>
              </a:ln>
            </p:spPr>
          </p:sp>
          <p:sp>
            <p:nvSpPr>
              <p:cNvPr id="487" name="Google Shape;487;p8"/>
              <p:cNvSpPr txBox="1"/>
              <p:nvPr/>
            </p:nvSpPr>
            <p:spPr>
              <a:xfrm>
                <a:off x="0" y="-47625"/>
                <a:ext cx="8163555" cy="779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React 19 + Vite 8 + Tailwind 4</a:t>
                </a:r>
                <a:endParaRPr/>
              </a:p>
            </p:txBody>
          </p:sp>
        </p:grpSp>
        <p:grpSp>
          <p:nvGrpSpPr>
            <p:cNvPr id="488" name="Google Shape;488;p8"/>
            <p:cNvGrpSpPr/>
            <p:nvPr/>
          </p:nvGrpSpPr>
          <p:grpSpPr>
            <a:xfrm>
              <a:off x="126755" y="675132"/>
              <a:ext cx="4704204" cy="769620"/>
              <a:chOff x="0" y="-38100"/>
              <a:chExt cx="4704204" cy="769620"/>
            </a:xfrm>
          </p:grpSpPr>
          <p:sp>
            <p:nvSpPr>
              <p:cNvPr id="489" name="Google Shape;489;p8"/>
              <p:cNvSpPr/>
              <p:nvPr/>
            </p:nvSpPr>
            <p:spPr>
              <a:xfrm>
                <a:off x="0" y="0"/>
                <a:ext cx="4704204" cy="731520"/>
              </a:xfrm>
              <a:custGeom>
                <a:rect b="b" l="l" r="r" t="t"/>
                <a:pathLst>
                  <a:path extrusionOk="0" h="731520" w="4704204">
                    <a:moveTo>
                      <a:pt x="0" y="0"/>
                    </a:moveTo>
                    <a:lnTo>
                      <a:pt x="4704204" y="0"/>
                    </a:lnTo>
                    <a:lnTo>
                      <a:pt x="47042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DC77F"/>
              </a:solidFill>
              <a:ln>
                <a:noFill/>
              </a:ln>
            </p:spPr>
          </p:sp>
          <p:sp>
            <p:nvSpPr>
              <p:cNvPr id="490" name="Google Shape;490;p8"/>
              <p:cNvSpPr txBox="1"/>
              <p:nvPr/>
            </p:nvSpPr>
            <p:spPr>
              <a:xfrm>
                <a:off x="0" y="-38100"/>
                <a:ext cx="4704204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749" u="none" cap="none" strike="noStrike">
                    <a:solidFill>
                      <a:srgbClr val="6B769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apps/web — habla solo con el gateway</a:t>
                </a:r>
                <a:endParaRPr/>
              </a:p>
            </p:txBody>
          </p:sp>
        </p:grpSp>
      </p:grpSp>
      <p:grpSp>
        <p:nvGrpSpPr>
          <p:cNvPr id="491" name="Google Shape;491;p8"/>
          <p:cNvGrpSpPr/>
          <p:nvPr/>
        </p:nvGrpSpPr>
        <p:grpSpPr>
          <a:xfrm>
            <a:off x="3593403" y="4002169"/>
            <a:ext cx="3566160" cy="1105567"/>
            <a:chOff x="0" y="-11049"/>
            <a:chExt cx="4754880" cy="1474089"/>
          </a:xfrm>
        </p:grpSpPr>
        <p:sp>
          <p:nvSpPr>
            <p:cNvPr id="492" name="Google Shape;492;p8"/>
            <p:cNvSpPr/>
            <p:nvPr/>
          </p:nvSpPr>
          <p:spPr>
            <a:xfrm>
              <a:off x="0" y="0"/>
              <a:ext cx="4754880" cy="1426464"/>
            </a:xfrm>
            <a:custGeom>
              <a:rect b="b" l="l" r="r" t="t"/>
              <a:pathLst>
                <a:path extrusionOk="0" h="1426464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243584"/>
                  </a:lnTo>
                  <a:cubicBezTo>
                    <a:pt x="4754880" y="1344549"/>
                    <a:pt x="4672965" y="1426464"/>
                    <a:pt x="457200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0034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3" name="Google Shape;493;p8"/>
            <p:cNvGrpSpPr/>
            <p:nvPr/>
          </p:nvGrpSpPr>
          <p:grpSpPr>
            <a:xfrm>
              <a:off x="1478023" y="-11049"/>
              <a:ext cx="1798833" cy="1474089"/>
              <a:chOff x="0" y="-47625"/>
              <a:chExt cx="1798833" cy="1474089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0" y="0"/>
                <a:ext cx="1798833" cy="1426464"/>
              </a:xfrm>
              <a:custGeom>
                <a:rect b="b" l="l" r="r" t="t"/>
                <a:pathLst>
                  <a:path extrusionOk="0" h="1426464" w="1798833">
                    <a:moveTo>
                      <a:pt x="0" y="0"/>
                    </a:moveTo>
                    <a:lnTo>
                      <a:pt x="1798833" y="0"/>
                    </a:lnTo>
                    <a:lnTo>
                      <a:pt x="1798833" y="1426464"/>
                    </a:lnTo>
                    <a:lnTo>
                      <a:pt x="0" y="1426464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950" l="0" r="-164333" t="-14950"/>
                </a:stretch>
              </a:blipFill>
              <a:ln>
                <a:noFill/>
              </a:ln>
            </p:spPr>
          </p:sp>
          <p:sp>
            <p:nvSpPr>
              <p:cNvPr id="495" name="Google Shape;495;p8"/>
              <p:cNvSpPr txBox="1"/>
              <p:nvPr/>
            </p:nvSpPr>
            <p:spPr>
              <a:xfrm>
                <a:off x="0" y="-47625"/>
                <a:ext cx="1798833" cy="1474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74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API Gateway</a:t>
                </a:r>
                <a:endParaRPr/>
              </a:p>
            </p:txBody>
          </p:sp>
        </p:grpSp>
      </p:grpSp>
      <p:grpSp>
        <p:nvGrpSpPr>
          <p:cNvPr id="496" name="Google Shape;496;p8"/>
          <p:cNvGrpSpPr/>
          <p:nvPr/>
        </p:nvGrpSpPr>
        <p:grpSpPr>
          <a:xfrm>
            <a:off x="7265279" y="4009556"/>
            <a:ext cx="7246438" cy="1105567"/>
            <a:chOff x="0" y="-47625"/>
            <a:chExt cx="9661918" cy="1474089"/>
          </a:xfrm>
        </p:grpSpPr>
        <p:sp>
          <p:nvSpPr>
            <p:cNvPr id="497" name="Google Shape;497;p8"/>
            <p:cNvSpPr/>
            <p:nvPr/>
          </p:nvSpPr>
          <p:spPr>
            <a:xfrm>
              <a:off x="0" y="0"/>
              <a:ext cx="9661918" cy="1426464"/>
            </a:xfrm>
            <a:custGeom>
              <a:rect b="b" l="l" r="r" t="t"/>
              <a:pathLst>
                <a:path extrusionOk="0" h="1426464" w="9661918">
                  <a:moveTo>
                    <a:pt x="0" y="182880"/>
                  </a:moveTo>
                  <a:cubicBezTo>
                    <a:pt x="0" y="81915"/>
                    <a:pt x="166451" y="0"/>
                    <a:pt x="371612" y="0"/>
                  </a:cubicBezTo>
                  <a:lnTo>
                    <a:pt x="9290306" y="0"/>
                  </a:lnTo>
                  <a:cubicBezTo>
                    <a:pt x="9495467" y="0"/>
                    <a:pt x="9661918" y="81915"/>
                    <a:pt x="9661918" y="182880"/>
                  </a:cubicBezTo>
                  <a:lnTo>
                    <a:pt x="9661918" y="1243584"/>
                  </a:lnTo>
                  <a:cubicBezTo>
                    <a:pt x="9661918" y="1344549"/>
                    <a:pt x="9495467" y="1426464"/>
                    <a:pt x="9290306" y="1426464"/>
                  </a:cubicBezTo>
                  <a:lnTo>
                    <a:pt x="371612" y="1426464"/>
                  </a:lnTo>
                  <a:cubicBezTo>
                    <a:pt x="166451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DC7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8" name="Google Shape;498;p8"/>
            <p:cNvGrpSpPr/>
            <p:nvPr/>
          </p:nvGrpSpPr>
          <p:grpSpPr>
            <a:xfrm>
              <a:off x="126755" y="-47625"/>
              <a:ext cx="8163555" cy="779145"/>
              <a:chOff x="0" y="-47625"/>
              <a:chExt cx="8163555" cy="779145"/>
            </a:xfrm>
          </p:grpSpPr>
          <p:sp>
            <p:nvSpPr>
              <p:cNvPr id="499" name="Google Shape;499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9468" l="0" r="3671" t="-159468"/>
                </a:stretch>
              </a:blipFill>
              <a:ln>
                <a:noFill/>
              </a:ln>
            </p:spPr>
          </p:sp>
          <p:sp>
            <p:nvSpPr>
              <p:cNvPr id="500" name="Google Shape;500;p8"/>
              <p:cNvSpPr txBox="1"/>
              <p:nvPr/>
            </p:nvSpPr>
            <p:spPr>
              <a:xfrm>
                <a:off x="0" y="-47625"/>
                <a:ext cx="8163555" cy="779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NestJS 12, puerto 3000</a:t>
                </a:r>
                <a:endParaRPr/>
              </a:p>
            </p:txBody>
          </p:sp>
        </p:grpSp>
        <p:grpSp>
          <p:nvGrpSpPr>
            <p:cNvPr id="501" name="Google Shape;501;p8"/>
            <p:cNvGrpSpPr/>
            <p:nvPr/>
          </p:nvGrpSpPr>
          <p:grpSpPr>
            <a:xfrm>
              <a:off x="126755" y="656844"/>
              <a:ext cx="7199534" cy="769620"/>
              <a:chOff x="0" y="-38100"/>
              <a:chExt cx="7199534" cy="769620"/>
            </a:xfrm>
          </p:grpSpPr>
          <p:sp>
            <p:nvSpPr>
              <p:cNvPr id="502" name="Google Shape;502;p8"/>
              <p:cNvSpPr/>
              <p:nvPr/>
            </p:nvSpPr>
            <p:spPr>
              <a:xfrm>
                <a:off x="0" y="0"/>
                <a:ext cx="7199533" cy="731520"/>
              </a:xfrm>
              <a:custGeom>
                <a:rect b="b" l="l" r="r" t="t"/>
                <a:pathLst>
                  <a:path extrusionOk="0" h="731520" w="7199533">
                    <a:moveTo>
                      <a:pt x="0" y="0"/>
                    </a:moveTo>
                    <a:lnTo>
                      <a:pt x="7199533" y="0"/>
                    </a:lnTo>
                    <a:lnTo>
                      <a:pt x="7199533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383576" l="0" r="-126076" t="-383576"/>
                </a:stretch>
              </a:blipFill>
              <a:ln>
                <a:noFill/>
              </a:ln>
            </p:spPr>
          </p:sp>
          <p:sp>
            <p:nvSpPr>
              <p:cNvPr id="503" name="Google Shape;503;p8"/>
              <p:cNvSpPr txBox="1"/>
              <p:nvPr/>
            </p:nvSpPr>
            <p:spPr>
              <a:xfrm>
                <a:off x="0" y="-38100"/>
                <a:ext cx="7199534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749" u="none" cap="none" strike="noStrike">
                    <a:solidFill>
                      <a:srgbClr val="6B769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Enruta por prefijo; bloquea /interno/*; genera X-Request-Id</a:t>
                </a:r>
                <a:endParaRPr/>
              </a:p>
            </p:txBody>
          </p:sp>
        </p:grpSp>
      </p:grpSp>
      <p:grpSp>
        <p:nvGrpSpPr>
          <p:cNvPr id="504" name="Google Shape;504;p8"/>
          <p:cNvGrpSpPr/>
          <p:nvPr/>
        </p:nvGrpSpPr>
        <p:grpSpPr>
          <a:xfrm>
            <a:off x="3593403" y="5277757"/>
            <a:ext cx="3566160" cy="1105567"/>
            <a:chOff x="0" y="-47625"/>
            <a:chExt cx="4754880" cy="1474089"/>
          </a:xfrm>
        </p:grpSpPr>
        <p:sp>
          <p:nvSpPr>
            <p:cNvPr id="505" name="Google Shape;505;p8"/>
            <p:cNvSpPr/>
            <p:nvPr/>
          </p:nvSpPr>
          <p:spPr>
            <a:xfrm>
              <a:off x="0" y="0"/>
              <a:ext cx="4754880" cy="1426464"/>
            </a:xfrm>
            <a:custGeom>
              <a:rect b="b" l="l" r="r" t="t"/>
              <a:pathLst>
                <a:path extrusionOk="0" h="1426464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243584"/>
                  </a:lnTo>
                  <a:cubicBezTo>
                    <a:pt x="4754880" y="1344549"/>
                    <a:pt x="4672965" y="1426464"/>
                    <a:pt x="457200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0034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6" name="Google Shape;506;p8"/>
            <p:cNvGrpSpPr/>
            <p:nvPr/>
          </p:nvGrpSpPr>
          <p:grpSpPr>
            <a:xfrm>
              <a:off x="1272073" y="-47625"/>
              <a:ext cx="2321871" cy="1474089"/>
              <a:chOff x="0" y="-47625"/>
              <a:chExt cx="2321871" cy="1474089"/>
            </a:xfrm>
          </p:grpSpPr>
          <p:sp>
            <p:nvSpPr>
              <p:cNvPr id="507" name="Google Shape;507;p8"/>
              <p:cNvSpPr/>
              <p:nvPr/>
            </p:nvSpPr>
            <p:spPr>
              <a:xfrm>
                <a:off x="0" y="0"/>
                <a:ext cx="2321871" cy="1426464"/>
              </a:xfrm>
              <a:custGeom>
                <a:rect b="b" l="l" r="r" t="t"/>
                <a:pathLst>
                  <a:path extrusionOk="0" h="1426464" w="2321871">
                    <a:moveTo>
                      <a:pt x="0" y="0"/>
                    </a:moveTo>
                    <a:lnTo>
                      <a:pt x="2321871" y="0"/>
                    </a:lnTo>
                    <a:lnTo>
                      <a:pt x="2321871" y="1426464"/>
                    </a:lnTo>
                    <a:lnTo>
                      <a:pt x="0" y="1426464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950" l="0" r="-104788" t="-14950"/>
                </a:stretch>
              </a:blipFill>
              <a:ln>
                <a:noFill/>
              </a:ln>
            </p:spPr>
          </p:sp>
          <p:sp>
            <p:nvSpPr>
              <p:cNvPr id="508" name="Google Shape;508;p8"/>
              <p:cNvSpPr txBox="1"/>
              <p:nvPr/>
            </p:nvSpPr>
            <p:spPr>
              <a:xfrm>
                <a:off x="0" y="-47625"/>
                <a:ext cx="2321871" cy="1474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74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 Microservicios</a:t>
                </a:r>
                <a:endParaRPr/>
              </a:p>
            </p:txBody>
          </p:sp>
        </p:grpSp>
      </p:grpSp>
      <p:grpSp>
        <p:nvGrpSpPr>
          <p:cNvPr id="509" name="Google Shape;509;p8"/>
          <p:cNvGrpSpPr/>
          <p:nvPr/>
        </p:nvGrpSpPr>
        <p:grpSpPr>
          <a:xfrm>
            <a:off x="7265279" y="5312576"/>
            <a:ext cx="7246438" cy="1105567"/>
            <a:chOff x="0" y="-11049"/>
            <a:chExt cx="9661918" cy="1474089"/>
          </a:xfrm>
        </p:grpSpPr>
        <p:sp>
          <p:nvSpPr>
            <p:cNvPr id="510" name="Google Shape;510;p8"/>
            <p:cNvSpPr/>
            <p:nvPr/>
          </p:nvSpPr>
          <p:spPr>
            <a:xfrm>
              <a:off x="0" y="0"/>
              <a:ext cx="9661918" cy="1426464"/>
            </a:xfrm>
            <a:custGeom>
              <a:rect b="b" l="l" r="r" t="t"/>
              <a:pathLst>
                <a:path extrusionOk="0" h="1426464" w="9661918">
                  <a:moveTo>
                    <a:pt x="0" y="182880"/>
                  </a:moveTo>
                  <a:cubicBezTo>
                    <a:pt x="0" y="81915"/>
                    <a:pt x="166451" y="0"/>
                    <a:pt x="371612" y="0"/>
                  </a:cubicBezTo>
                  <a:lnTo>
                    <a:pt x="9290306" y="0"/>
                  </a:lnTo>
                  <a:cubicBezTo>
                    <a:pt x="9495467" y="0"/>
                    <a:pt x="9661918" y="81915"/>
                    <a:pt x="9661918" y="182880"/>
                  </a:cubicBezTo>
                  <a:lnTo>
                    <a:pt x="9661918" y="1243584"/>
                  </a:lnTo>
                  <a:cubicBezTo>
                    <a:pt x="9661918" y="1344549"/>
                    <a:pt x="9495467" y="1426464"/>
                    <a:pt x="9290306" y="1426464"/>
                  </a:cubicBezTo>
                  <a:lnTo>
                    <a:pt x="371612" y="1426464"/>
                  </a:lnTo>
                  <a:cubicBezTo>
                    <a:pt x="166451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DC7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1" name="Google Shape;511;p8"/>
            <p:cNvGrpSpPr/>
            <p:nvPr/>
          </p:nvGrpSpPr>
          <p:grpSpPr>
            <a:xfrm>
              <a:off x="126755" y="-11049"/>
              <a:ext cx="8163555" cy="779145"/>
              <a:chOff x="0" y="-47625"/>
              <a:chExt cx="8163555" cy="779145"/>
            </a:xfrm>
          </p:grpSpPr>
          <p:sp>
            <p:nvSpPr>
              <p:cNvPr id="512" name="Google Shape;512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9468" l="0" r="3671" t="-159468"/>
                </a:stretch>
              </a:blipFill>
              <a:ln>
                <a:noFill/>
              </a:ln>
            </p:spPr>
          </p:sp>
          <p:sp>
            <p:nvSpPr>
              <p:cNvPr id="513" name="Google Shape;513;p8"/>
              <p:cNvSpPr txBox="1"/>
              <p:nvPr/>
            </p:nvSpPr>
            <p:spPr>
              <a:xfrm>
                <a:off x="0" y="-47625"/>
                <a:ext cx="8163555" cy="779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NestJS 12 (auth, identity, learning, matching)</a:t>
                </a:r>
                <a:endParaRPr/>
              </a:p>
            </p:txBody>
          </p:sp>
        </p:grpSp>
        <p:grpSp>
          <p:nvGrpSpPr>
            <p:cNvPr id="514" name="Google Shape;514;p8"/>
            <p:cNvGrpSpPr/>
            <p:nvPr/>
          </p:nvGrpSpPr>
          <p:grpSpPr>
            <a:xfrm>
              <a:off x="126755" y="693420"/>
              <a:ext cx="7424573" cy="769620"/>
              <a:chOff x="0" y="-38100"/>
              <a:chExt cx="7424573" cy="769620"/>
            </a:xfrm>
          </p:grpSpPr>
          <p:sp>
            <p:nvSpPr>
              <p:cNvPr id="515" name="Google Shape;515;p8"/>
              <p:cNvSpPr/>
              <p:nvPr/>
            </p:nvSpPr>
            <p:spPr>
              <a:xfrm>
                <a:off x="0" y="0"/>
                <a:ext cx="7424572" cy="731520"/>
              </a:xfrm>
              <a:custGeom>
                <a:rect b="b" l="l" r="r" t="t"/>
                <a:pathLst>
                  <a:path extrusionOk="0" h="731520" w="7424572">
                    <a:moveTo>
                      <a:pt x="0" y="0"/>
                    </a:moveTo>
                    <a:lnTo>
                      <a:pt x="7424572" y="0"/>
                    </a:lnTo>
                    <a:lnTo>
                      <a:pt x="7424572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383576" l="0" r="-119221" t="-383576"/>
                </a:stretch>
              </a:blipFill>
              <a:ln>
                <a:noFill/>
              </a:ln>
            </p:spPr>
          </p:sp>
          <p:sp>
            <p:nvSpPr>
              <p:cNvPr id="516" name="Google Shape;516;p8"/>
              <p:cNvSpPr txBox="1"/>
              <p:nvPr/>
            </p:nvSpPr>
            <p:spPr>
              <a:xfrm>
                <a:off x="0" y="-38100"/>
                <a:ext cx="7424573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749" u="none" cap="none" strike="noStrike">
                    <a:solidFill>
                      <a:srgbClr val="6B769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auth-service sin base propia — valida contra identity-service</a:t>
                </a:r>
                <a:endParaRPr/>
              </a:p>
            </p:txBody>
          </p:sp>
        </p:grpSp>
      </p:grpSp>
      <p:grpSp>
        <p:nvGrpSpPr>
          <p:cNvPr id="517" name="Google Shape;517;p8"/>
          <p:cNvGrpSpPr/>
          <p:nvPr/>
        </p:nvGrpSpPr>
        <p:grpSpPr>
          <a:xfrm>
            <a:off x="3593403" y="6580777"/>
            <a:ext cx="3566160" cy="1105567"/>
            <a:chOff x="0" y="-47625"/>
            <a:chExt cx="4754880" cy="1474089"/>
          </a:xfrm>
        </p:grpSpPr>
        <p:sp>
          <p:nvSpPr>
            <p:cNvPr id="518" name="Google Shape;518;p8"/>
            <p:cNvSpPr/>
            <p:nvPr/>
          </p:nvSpPr>
          <p:spPr>
            <a:xfrm>
              <a:off x="0" y="0"/>
              <a:ext cx="4754880" cy="1426464"/>
            </a:xfrm>
            <a:custGeom>
              <a:rect b="b" l="l" r="r" t="t"/>
              <a:pathLst>
                <a:path extrusionOk="0" h="1426464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243584"/>
                  </a:lnTo>
                  <a:cubicBezTo>
                    <a:pt x="4754880" y="1344549"/>
                    <a:pt x="4672965" y="1426464"/>
                    <a:pt x="457200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0034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9" name="Google Shape;519;p8"/>
            <p:cNvGrpSpPr/>
            <p:nvPr/>
          </p:nvGrpSpPr>
          <p:grpSpPr>
            <a:xfrm>
              <a:off x="1454764" y="-47625"/>
              <a:ext cx="1956489" cy="1474089"/>
              <a:chOff x="0" y="-47625"/>
              <a:chExt cx="1956489" cy="1474089"/>
            </a:xfrm>
          </p:grpSpPr>
          <p:sp>
            <p:nvSpPr>
              <p:cNvPr id="520" name="Google Shape;520;p8"/>
              <p:cNvSpPr/>
              <p:nvPr/>
            </p:nvSpPr>
            <p:spPr>
              <a:xfrm>
                <a:off x="0" y="0"/>
                <a:ext cx="1956489" cy="1426464"/>
              </a:xfrm>
              <a:custGeom>
                <a:rect b="b" l="l" r="r" t="t"/>
                <a:pathLst>
                  <a:path extrusionOk="0" h="1426464" w="1956489">
                    <a:moveTo>
                      <a:pt x="0" y="0"/>
                    </a:moveTo>
                    <a:lnTo>
                      <a:pt x="1956489" y="0"/>
                    </a:lnTo>
                    <a:lnTo>
                      <a:pt x="1956489" y="1426464"/>
                    </a:lnTo>
                    <a:lnTo>
                      <a:pt x="0" y="1426464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950" l="0" r="-143031" t="-14950"/>
                </a:stretch>
              </a:blipFill>
              <a:ln>
                <a:noFill/>
              </a:ln>
            </p:spPr>
          </p:sp>
          <p:sp>
            <p:nvSpPr>
              <p:cNvPr id="521" name="Google Shape;521;p8"/>
              <p:cNvSpPr txBox="1"/>
              <p:nvPr/>
            </p:nvSpPr>
            <p:spPr>
              <a:xfrm>
                <a:off x="0" y="-47625"/>
                <a:ext cx="1956489" cy="1474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74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Bases de datos</a:t>
                </a:r>
                <a:endParaRPr/>
              </a:p>
            </p:txBody>
          </p:sp>
        </p:grpSp>
      </p:grpSp>
      <p:grpSp>
        <p:nvGrpSpPr>
          <p:cNvPr id="522" name="Google Shape;522;p8"/>
          <p:cNvGrpSpPr/>
          <p:nvPr/>
        </p:nvGrpSpPr>
        <p:grpSpPr>
          <a:xfrm>
            <a:off x="7265279" y="6615596"/>
            <a:ext cx="7246438" cy="1131559"/>
            <a:chOff x="0" y="-11049"/>
            <a:chExt cx="9661918" cy="1508745"/>
          </a:xfrm>
        </p:grpSpPr>
        <p:sp>
          <p:nvSpPr>
            <p:cNvPr id="523" name="Google Shape;523;p8"/>
            <p:cNvSpPr/>
            <p:nvPr/>
          </p:nvSpPr>
          <p:spPr>
            <a:xfrm>
              <a:off x="0" y="0"/>
              <a:ext cx="9661918" cy="1426464"/>
            </a:xfrm>
            <a:custGeom>
              <a:rect b="b" l="l" r="r" t="t"/>
              <a:pathLst>
                <a:path extrusionOk="0" h="1426464" w="9661918">
                  <a:moveTo>
                    <a:pt x="0" y="182880"/>
                  </a:moveTo>
                  <a:cubicBezTo>
                    <a:pt x="0" y="81915"/>
                    <a:pt x="166451" y="0"/>
                    <a:pt x="371612" y="0"/>
                  </a:cubicBezTo>
                  <a:lnTo>
                    <a:pt x="9290306" y="0"/>
                  </a:lnTo>
                  <a:cubicBezTo>
                    <a:pt x="9495467" y="0"/>
                    <a:pt x="9661918" y="81915"/>
                    <a:pt x="9661918" y="182880"/>
                  </a:cubicBezTo>
                  <a:lnTo>
                    <a:pt x="9661918" y="1243584"/>
                  </a:lnTo>
                  <a:cubicBezTo>
                    <a:pt x="9661918" y="1344549"/>
                    <a:pt x="9495467" y="1426464"/>
                    <a:pt x="9290306" y="1426464"/>
                  </a:cubicBezTo>
                  <a:lnTo>
                    <a:pt x="371612" y="1426464"/>
                  </a:lnTo>
                  <a:cubicBezTo>
                    <a:pt x="166451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DC7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" name="Google Shape;524;p8"/>
            <p:cNvGrpSpPr/>
            <p:nvPr/>
          </p:nvGrpSpPr>
          <p:grpSpPr>
            <a:xfrm>
              <a:off x="126755" y="-11049"/>
              <a:ext cx="8163555" cy="779145"/>
              <a:chOff x="0" y="-47625"/>
              <a:chExt cx="8163555" cy="779145"/>
            </a:xfrm>
          </p:grpSpPr>
          <p:sp>
            <p:nvSpPr>
              <p:cNvPr id="525" name="Google Shape;525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9468" l="0" r="3671" t="-159468"/>
                </a:stretch>
              </a:blipFill>
              <a:ln>
                <a:noFill/>
              </a:ln>
            </p:spPr>
          </p:sp>
          <p:sp>
            <p:nvSpPr>
              <p:cNvPr id="526" name="Google Shape;526;p8"/>
              <p:cNvSpPr txBox="1"/>
              <p:nvPr/>
            </p:nvSpPr>
            <p:spPr>
              <a:xfrm>
                <a:off x="0" y="-47625"/>
                <a:ext cx="8163555" cy="779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PostgreSQL 18 + Prisma 7.10 ×3</a:t>
                </a:r>
                <a:endParaRPr/>
              </a:p>
            </p:txBody>
          </p:sp>
        </p:grpSp>
        <p:grpSp>
          <p:nvGrpSpPr>
            <p:cNvPr id="527" name="Google Shape;527;p8"/>
            <p:cNvGrpSpPr/>
            <p:nvPr/>
          </p:nvGrpSpPr>
          <p:grpSpPr>
            <a:xfrm>
              <a:off x="126755" y="728076"/>
              <a:ext cx="7416311" cy="769620"/>
              <a:chOff x="0" y="-38100"/>
              <a:chExt cx="7416311" cy="769620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0" y="0"/>
                <a:ext cx="7416311" cy="731520"/>
              </a:xfrm>
              <a:custGeom>
                <a:rect b="b" l="l" r="r" t="t"/>
                <a:pathLst>
                  <a:path extrusionOk="0" h="731520" w="7416311">
                    <a:moveTo>
                      <a:pt x="0" y="0"/>
                    </a:moveTo>
                    <a:lnTo>
                      <a:pt x="7416311" y="0"/>
                    </a:lnTo>
                    <a:lnTo>
                      <a:pt x="741631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383576" l="0" r="-119467" t="-383576"/>
                </a:stretch>
              </a:blipFill>
              <a:ln>
                <a:noFill/>
              </a:ln>
            </p:spPr>
          </p:sp>
          <p:sp>
            <p:nvSpPr>
              <p:cNvPr id="529" name="Google Shape;529;p8"/>
              <p:cNvSpPr txBox="1"/>
              <p:nvPr/>
            </p:nvSpPr>
            <p:spPr>
              <a:xfrm>
                <a:off x="0" y="-38100"/>
                <a:ext cx="7416311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749" u="none" cap="none" strike="noStrike">
                    <a:solidFill>
                      <a:srgbClr val="6B769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identity_db, learning_db, matching_db — un rol por servicio</a:t>
                </a:r>
                <a:endParaRPr/>
              </a:p>
            </p:txBody>
          </p:sp>
        </p:grpSp>
      </p:grpSp>
      <p:grpSp>
        <p:nvGrpSpPr>
          <p:cNvPr id="530" name="Google Shape;530;p8"/>
          <p:cNvGrpSpPr/>
          <p:nvPr/>
        </p:nvGrpSpPr>
        <p:grpSpPr>
          <a:xfrm>
            <a:off x="3593403" y="7890084"/>
            <a:ext cx="3566160" cy="1105566"/>
            <a:chOff x="0" y="-39243"/>
            <a:chExt cx="4754880" cy="1474089"/>
          </a:xfrm>
        </p:grpSpPr>
        <p:sp>
          <p:nvSpPr>
            <p:cNvPr id="531" name="Google Shape;531;p8"/>
            <p:cNvSpPr/>
            <p:nvPr/>
          </p:nvSpPr>
          <p:spPr>
            <a:xfrm>
              <a:off x="0" y="0"/>
              <a:ext cx="4754880" cy="1426464"/>
            </a:xfrm>
            <a:custGeom>
              <a:rect b="b" l="l" r="r" t="t"/>
              <a:pathLst>
                <a:path extrusionOk="0" h="1426464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243584"/>
                  </a:lnTo>
                  <a:cubicBezTo>
                    <a:pt x="4754880" y="1344549"/>
                    <a:pt x="4672965" y="1426464"/>
                    <a:pt x="457200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0034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2" name="Google Shape;532;p8"/>
            <p:cNvGrpSpPr/>
            <p:nvPr/>
          </p:nvGrpSpPr>
          <p:grpSpPr>
            <a:xfrm>
              <a:off x="1454764" y="-39243"/>
              <a:ext cx="1845352" cy="1474089"/>
              <a:chOff x="0" y="-47625"/>
              <a:chExt cx="1845352" cy="1474089"/>
            </a:xfrm>
          </p:grpSpPr>
          <p:sp>
            <p:nvSpPr>
              <p:cNvPr id="533" name="Google Shape;533;p8"/>
              <p:cNvSpPr/>
              <p:nvPr/>
            </p:nvSpPr>
            <p:spPr>
              <a:xfrm>
                <a:off x="0" y="0"/>
                <a:ext cx="1845352" cy="1426464"/>
              </a:xfrm>
              <a:custGeom>
                <a:rect b="b" l="l" r="r" t="t"/>
                <a:pathLst>
                  <a:path extrusionOk="0" h="1426464" w="1845352">
                    <a:moveTo>
                      <a:pt x="0" y="0"/>
                    </a:moveTo>
                    <a:lnTo>
                      <a:pt x="1845352" y="0"/>
                    </a:lnTo>
                    <a:lnTo>
                      <a:pt x="1845352" y="1426464"/>
                    </a:lnTo>
                    <a:lnTo>
                      <a:pt x="0" y="1426464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950" l="0" r="-157666" t="-14950"/>
                </a:stretch>
              </a:blipFill>
              <a:ln>
                <a:noFill/>
              </a:ln>
            </p:spPr>
          </p:sp>
          <p:sp>
            <p:nvSpPr>
              <p:cNvPr id="534" name="Google Shape;534;p8"/>
              <p:cNvSpPr txBox="1"/>
              <p:nvPr/>
            </p:nvSpPr>
            <p:spPr>
              <a:xfrm>
                <a:off x="0" y="-47625"/>
                <a:ext cx="1845352" cy="1474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74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Compartidos</a:t>
                </a:r>
                <a:endParaRPr/>
              </a:p>
            </p:txBody>
          </p:sp>
        </p:grpSp>
      </p:grpSp>
      <p:grpSp>
        <p:nvGrpSpPr>
          <p:cNvPr id="535" name="Google Shape;535;p8"/>
          <p:cNvGrpSpPr/>
          <p:nvPr/>
        </p:nvGrpSpPr>
        <p:grpSpPr>
          <a:xfrm>
            <a:off x="7265279" y="7912044"/>
            <a:ext cx="7246438" cy="1138131"/>
            <a:chOff x="0" y="0"/>
            <a:chExt cx="9661918" cy="1517508"/>
          </a:xfrm>
        </p:grpSpPr>
        <p:sp>
          <p:nvSpPr>
            <p:cNvPr id="536" name="Google Shape;536;p8"/>
            <p:cNvSpPr/>
            <p:nvPr/>
          </p:nvSpPr>
          <p:spPr>
            <a:xfrm>
              <a:off x="0" y="0"/>
              <a:ext cx="9661918" cy="1426464"/>
            </a:xfrm>
            <a:custGeom>
              <a:rect b="b" l="l" r="r" t="t"/>
              <a:pathLst>
                <a:path extrusionOk="0" h="1426464" w="9661918">
                  <a:moveTo>
                    <a:pt x="0" y="182880"/>
                  </a:moveTo>
                  <a:cubicBezTo>
                    <a:pt x="0" y="81915"/>
                    <a:pt x="166451" y="0"/>
                    <a:pt x="371612" y="0"/>
                  </a:cubicBezTo>
                  <a:lnTo>
                    <a:pt x="9290306" y="0"/>
                  </a:lnTo>
                  <a:cubicBezTo>
                    <a:pt x="9495467" y="0"/>
                    <a:pt x="9661918" y="81915"/>
                    <a:pt x="9661918" y="182880"/>
                  </a:cubicBezTo>
                  <a:lnTo>
                    <a:pt x="9661918" y="1243584"/>
                  </a:lnTo>
                  <a:cubicBezTo>
                    <a:pt x="9661918" y="1344549"/>
                    <a:pt x="9495467" y="1426464"/>
                    <a:pt x="9290306" y="1426464"/>
                  </a:cubicBezTo>
                  <a:lnTo>
                    <a:pt x="371612" y="1426464"/>
                  </a:lnTo>
                  <a:cubicBezTo>
                    <a:pt x="166451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DC7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7" name="Google Shape;537;p8"/>
            <p:cNvGrpSpPr/>
            <p:nvPr/>
          </p:nvGrpSpPr>
          <p:grpSpPr>
            <a:xfrm>
              <a:off x="126755" y="8763"/>
              <a:ext cx="8163555" cy="779145"/>
              <a:chOff x="0" y="-47625"/>
              <a:chExt cx="8163555" cy="779145"/>
            </a:xfrm>
          </p:grpSpPr>
          <p:sp>
            <p:nvSpPr>
              <p:cNvPr id="538" name="Google Shape;538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59468" l="0" r="3671" t="-159468"/>
                </a:stretch>
              </a:blipFill>
              <a:ln>
                <a:noFill/>
              </a:ln>
            </p:spPr>
          </p:sp>
          <p:sp>
            <p:nvSpPr>
              <p:cNvPr id="539" name="Google Shape;539;p8"/>
              <p:cNvSpPr txBox="1"/>
              <p:nvPr/>
            </p:nvSpPr>
            <p:spPr>
              <a:xfrm>
                <a:off x="0" y="-47625"/>
                <a:ext cx="8163555" cy="779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950" u="none" cap="none" strike="noStrike">
                    <a:solidFill>
                      <a:srgbClr val="1221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@enactiva/service-kit y @enactiva/shared</a:t>
                </a:r>
                <a:endParaRPr/>
              </a:p>
            </p:txBody>
          </p:sp>
        </p:grpSp>
        <p:grpSp>
          <p:nvGrpSpPr>
            <p:cNvPr id="540" name="Google Shape;540;p8"/>
            <p:cNvGrpSpPr/>
            <p:nvPr/>
          </p:nvGrpSpPr>
          <p:grpSpPr>
            <a:xfrm>
              <a:off x="126755" y="747888"/>
              <a:ext cx="8163555" cy="769620"/>
              <a:chOff x="0" y="-38100"/>
              <a:chExt cx="8163555" cy="769620"/>
            </a:xfrm>
          </p:grpSpPr>
          <p:sp>
            <p:nvSpPr>
              <p:cNvPr id="541" name="Google Shape;541;p8"/>
              <p:cNvSpPr/>
              <p:nvPr/>
            </p:nvSpPr>
            <p:spPr>
              <a:xfrm>
                <a:off x="0" y="0"/>
                <a:ext cx="8163555" cy="731520"/>
              </a:xfrm>
              <a:custGeom>
                <a:rect b="b" l="l" r="r" t="t"/>
                <a:pathLst>
                  <a:path extrusionOk="0" h="731520" w="8163555">
                    <a:moveTo>
                      <a:pt x="0" y="0"/>
                    </a:moveTo>
                    <a:lnTo>
                      <a:pt x="8163555" y="0"/>
                    </a:lnTo>
                    <a:lnTo>
                      <a:pt x="8163555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383576" l="0" r="-99378" t="-383576"/>
                </a:stretch>
              </a:blipFill>
              <a:ln>
                <a:noFill/>
              </a:ln>
            </p:spPr>
          </p:sp>
          <p:sp>
            <p:nvSpPr>
              <p:cNvPr id="542" name="Google Shape;542;p8"/>
              <p:cNvSpPr txBox="1"/>
              <p:nvPr/>
            </p:nvSpPr>
            <p:spPr>
              <a:xfrm>
                <a:off x="0" y="-38100"/>
                <a:ext cx="8163555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749" u="none" cap="none" strike="noStrike">
                    <a:solidFill>
                      <a:srgbClr val="6B769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Guard, scoping por empresa, caché de sesión 30 s, esquemas Zod 4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2" name="Google Shape;552;p9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3" name="Google Shape;553;p9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4" name="Google Shape;554;p9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555" name="Google Shape;555;p9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556" name="Google Shape;556;p9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DESARROLLO</a:t>
              </a:r>
              <a:endParaRPr/>
            </a:p>
          </p:txBody>
        </p:sp>
      </p:grpSp>
      <p:grpSp>
        <p:nvGrpSpPr>
          <p:cNvPr id="557" name="Google Shape;557;p9"/>
          <p:cNvGrpSpPr/>
          <p:nvPr/>
        </p:nvGrpSpPr>
        <p:grpSpPr>
          <a:xfrm>
            <a:off x="960120" y="1094423"/>
            <a:ext cx="16184880" cy="1305878"/>
            <a:chOff x="0" y="-95250"/>
            <a:chExt cx="21579840" cy="1741170"/>
          </a:xfrm>
        </p:grpSpPr>
        <p:sp>
          <p:nvSpPr>
            <p:cNvPr id="558" name="Google Shape;558;p9"/>
            <p:cNvSpPr/>
            <p:nvPr/>
          </p:nvSpPr>
          <p:spPr>
            <a:xfrm>
              <a:off x="0" y="0"/>
              <a:ext cx="21579839" cy="1645920"/>
            </a:xfrm>
            <a:custGeom>
              <a:rect b="b" l="l" r="r" t="t"/>
              <a:pathLst>
                <a:path extrusionOk="0"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0" t="-205467"/>
              </a:stretch>
            </a:blipFill>
            <a:ln>
              <a:noFill/>
            </a:ln>
          </p:spPr>
        </p:sp>
        <p:sp>
          <p:nvSpPr>
            <p:cNvPr id="559" name="Google Shape;559;p9"/>
            <p:cNvSpPr txBox="1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Sistemas y plataformas</a:t>
              </a:r>
              <a:endParaRPr/>
            </a:p>
          </p:txBody>
        </p:sp>
      </p:grpSp>
      <p:grpSp>
        <p:nvGrpSpPr>
          <p:cNvPr id="560" name="Google Shape;560;p9"/>
          <p:cNvGrpSpPr/>
          <p:nvPr/>
        </p:nvGrpSpPr>
        <p:grpSpPr>
          <a:xfrm>
            <a:off x="960120" y="2371725"/>
            <a:ext cx="15773400" cy="577215"/>
            <a:chOff x="0" y="-38100"/>
            <a:chExt cx="21031200" cy="769620"/>
          </a:xfrm>
        </p:grpSpPr>
        <p:sp>
          <p:nvSpPr>
            <p:cNvPr id="561" name="Google Shape;561;p9"/>
            <p:cNvSpPr/>
            <p:nvPr/>
          </p:nvSpPr>
          <p:spPr>
            <a:xfrm>
              <a:off x="0" y="0"/>
              <a:ext cx="21031200" cy="731520"/>
            </a:xfrm>
            <a:custGeom>
              <a:rect b="b" l="l" r="r" t="t"/>
              <a:pathLst>
                <a:path extrusionOk="0"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10161" l="0" r="0" t="-510161"/>
              </a:stretch>
            </a:blipFill>
            <a:ln>
              <a:noFill/>
            </a:ln>
          </p:spPr>
        </p:sp>
        <p:sp>
          <p:nvSpPr>
            <p:cNvPr id="562" name="Google Shape;562;p9"/>
            <p:cNvSpPr txBox="1"/>
            <p:nvPr/>
          </p:nvSpPr>
          <p:spPr>
            <a:xfrm>
              <a:off x="0" y="-38100"/>
              <a:ext cx="210312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25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Servicios externos de los que depende la solución hoy - el despliegue público todavía está pendiente (fase M4).</a:t>
              </a:r>
              <a:endParaRPr/>
            </a:p>
          </p:txBody>
        </p:sp>
      </p:grpSp>
      <p:sp>
        <p:nvSpPr>
          <p:cNvPr id="563" name="Google Shape;563;p9"/>
          <p:cNvSpPr/>
          <p:nvPr/>
        </p:nvSpPr>
        <p:spPr>
          <a:xfrm>
            <a:off x="960120" y="336042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0A4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9"/>
          <p:cNvGrpSpPr/>
          <p:nvPr/>
        </p:nvGrpSpPr>
        <p:grpSpPr>
          <a:xfrm>
            <a:off x="1261872" y="3530441"/>
            <a:ext cx="4663440" cy="584359"/>
            <a:chOff x="0" y="-47625"/>
            <a:chExt cx="6217920" cy="779145"/>
          </a:xfrm>
        </p:grpSpPr>
        <p:sp>
          <p:nvSpPr>
            <p:cNvPr id="565" name="Google Shape;565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566" name="Google Shape;566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GitHub</a:t>
              </a:r>
              <a:endParaRPr/>
            </a:p>
          </p:txBody>
        </p:sp>
      </p:grpSp>
      <p:grpSp>
        <p:nvGrpSpPr>
          <p:cNvPr id="567" name="Google Shape;567;p9"/>
          <p:cNvGrpSpPr/>
          <p:nvPr/>
        </p:nvGrpSpPr>
        <p:grpSpPr>
          <a:xfrm>
            <a:off x="1261872" y="4119086"/>
            <a:ext cx="4663440" cy="1778794"/>
            <a:chOff x="0" y="-85725"/>
            <a:chExt cx="6217920" cy="2371725"/>
          </a:xfrm>
        </p:grpSpPr>
        <p:sp>
          <p:nvSpPr>
            <p:cNvPr id="568" name="Google Shape;568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569" name="Google Shape;569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Monorepo con pnpm workspaces (pnpm 12, Node 24 LTS). Control de versiones, ramas y Pull Requests.</a:t>
              </a:r>
              <a:endParaRPr/>
            </a:p>
          </p:txBody>
        </p:sp>
      </p:grpSp>
      <p:sp>
        <p:nvSpPr>
          <p:cNvPr id="570" name="Google Shape;570;p9"/>
          <p:cNvSpPr/>
          <p:nvPr/>
        </p:nvSpPr>
        <p:spPr>
          <a:xfrm>
            <a:off x="6515100" y="336042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" name="Google Shape;571;p9"/>
          <p:cNvGrpSpPr/>
          <p:nvPr/>
        </p:nvGrpSpPr>
        <p:grpSpPr>
          <a:xfrm>
            <a:off x="6816852" y="3530441"/>
            <a:ext cx="4663440" cy="584359"/>
            <a:chOff x="0" y="-47625"/>
            <a:chExt cx="6217920" cy="779145"/>
          </a:xfrm>
        </p:grpSpPr>
        <p:sp>
          <p:nvSpPr>
            <p:cNvPr id="572" name="Google Shape;572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573" name="Google Shape;573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GitHub Actions</a:t>
              </a:r>
              <a:endParaRPr/>
            </a:p>
          </p:txBody>
        </p:sp>
      </p:grpSp>
      <p:grpSp>
        <p:nvGrpSpPr>
          <p:cNvPr id="574" name="Google Shape;574;p9"/>
          <p:cNvGrpSpPr/>
          <p:nvPr/>
        </p:nvGrpSpPr>
        <p:grpSpPr>
          <a:xfrm>
            <a:off x="6816852" y="4119086"/>
            <a:ext cx="4663440" cy="1778794"/>
            <a:chOff x="0" y="-85725"/>
            <a:chExt cx="6217920" cy="2371725"/>
          </a:xfrm>
        </p:grpSpPr>
        <p:sp>
          <p:nvSpPr>
            <p:cNvPr id="575" name="Google Shape;575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576" name="Google Shape;576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 en cada Pull Request: lint, formato, tipos, tests y build — los 198 tests corren aquí.</a:t>
              </a:r>
              <a:endParaRPr/>
            </a:p>
          </p:txBody>
        </p:sp>
      </p:grpSp>
      <p:sp>
        <p:nvSpPr>
          <p:cNvPr id="577" name="Google Shape;577;p9"/>
          <p:cNvSpPr/>
          <p:nvPr/>
        </p:nvSpPr>
        <p:spPr>
          <a:xfrm>
            <a:off x="12070080" y="336042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8" name="Google Shape;578;p9"/>
          <p:cNvGrpSpPr/>
          <p:nvPr/>
        </p:nvGrpSpPr>
        <p:grpSpPr>
          <a:xfrm>
            <a:off x="12371832" y="3530441"/>
            <a:ext cx="4663440" cy="584359"/>
            <a:chOff x="0" y="-47625"/>
            <a:chExt cx="6217920" cy="779145"/>
          </a:xfrm>
        </p:grpSpPr>
        <p:sp>
          <p:nvSpPr>
            <p:cNvPr id="579" name="Google Shape;579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580" name="Google Shape;580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Docker Compose</a:t>
              </a:r>
              <a:endParaRPr/>
            </a:p>
          </p:txBody>
        </p:sp>
      </p:grpSp>
      <p:grpSp>
        <p:nvGrpSpPr>
          <p:cNvPr id="581" name="Google Shape;581;p9"/>
          <p:cNvGrpSpPr/>
          <p:nvPr/>
        </p:nvGrpSpPr>
        <p:grpSpPr>
          <a:xfrm>
            <a:off x="12371832" y="4119086"/>
            <a:ext cx="4663440" cy="1778794"/>
            <a:chOff x="0" y="-85725"/>
            <a:chExt cx="6217920" cy="2371725"/>
          </a:xfrm>
        </p:grpSpPr>
        <p:sp>
          <p:nvSpPr>
            <p:cNvPr id="582" name="Google Shape;582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583" name="Google Shape;583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PostgreSQL 18 (3 bases, roles separados) + Mailpit, en el entorno local de cada integrante.</a:t>
              </a:r>
              <a:endParaRPr/>
            </a:p>
          </p:txBody>
        </p:sp>
      </p:grpSp>
      <p:sp>
        <p:nvSpPr>
          <p:cNvPr id="584" name="Google Shape;584;p9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5" name="Google Shape;585;p9"/>
          <p:cNvSpPr/>
          <p:nvPr/>
        </p:nvSpPr>
        <p:spPr>
          <a:xfrm>
            <a:off x="960120" y="630936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9"/>
          <p:cNvGrpSpPr/>
          <p:nvPr/>
        </p:nvGrpSpPr>
        <p:grpSpPr>
          <a:xfrm>
            <a:off x="1261872" y="6479381"/>
            <a:ext cx="4663440" cy="584359"/>
            <a:chOff x="0" y="-47625"/>
            <a:chExt cx="6217920" cy="779145"/>
          </a:xfrm>
        </p:grpSpPr>
        <p:sp>
          <p:nvSpPr>
            <p:cNvPr id="587" name="Google Shape;587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588" name="Google Shape;588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Mailpit</a:t>
              </a:r>
              <a:endParaRPr/>
            </a:p>
          </p:txBody>
        </p:sp>
      </p:grpSp>
      <p:grpSp>
        <p:nvGrpSpPr>
          <p:cNvPr id="589" name="Google Shape;589;p9"/>
          <p:cNvGrpSpPr/>
          <p:nvPr/>
        </p:nvGrpSpPr>
        <p:grpSpPr>
          <a:xfrm>
            <a:off x="1261872" y="7068026"/>
            <a:ext cx="4663440" cy="1778794"/>
            <a:chOff x="0" y="-85725"/>
            <a:chExt cx="6217920" cy="2371725"/>
          </a:xfrm>
        </p:grpSpPr>
        <p:sp>
          <p:nvSpPr>
            <p:cNvPr id="590" name="Google Shape;590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591" name="Google Shape;591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Captura los correos que envía identity-service (invitaciones, activación) sin enviarlos a internet real.</a:t>
              </a:r>
              <a:endParaRPr/>
            </a:p>
          </p:txBody>
        </p:sp>
      </p:grpSp>
      <p:sp>
        <p:nvSpPr>
          <p:cNvPr id="592" name="Google Shape;592;p9"/>
          <p:cNvSpPr/>
          <p:nvPr/>
        </p:nvSpPr>
        <p:spPr>
          <a:xfrm>
            <a:off x="6515100" y="630936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3" name="Google Shape;593;p9"/>
          <p:cNvGrpSpPr/>
          <p:nvPr/>
        </p:nvGrpSpPr>
        <p:grpSpPr>
          <a:xfrm>
            <a:off x="6816852" y="6479381"/>
            <a:ext cx="4663440" cy="584359"/>
            <a:chOff x="0" y="-47625"/>
            <a:chExt cx="6217920" cy="779145"/>
          </a:xfrm>
        </p:grpSpPr>
        <p:sp>
          <p:nvSpPr>
            <p:cNvPr id="594" name="Google Shape;594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595" name="Google Shape;595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Despliegue público</a:t>
              </a:r>
              <a:endParaRPr/>
            </a:p>
          </p:txBody>
        </p:sp>
      </p:grpSp>
      <p:grpSp>
        <p:nvGrpSpPr>
          <p:cNvPr id="596" name="Google Shape;596;p9"/>
          <p:cNvGrpSpPr/>
          <p:nvPr/>
        </p:nvGrpSpPr>
        <p:grpSpPr>
          <a:xfrm>
            <a:off x="6816852" y="7068026"/>
            <a:ext cx="4663440" cy="1778794"/>
            <a:chOff x="0" y="-85725"/>
            <a:chExt cx="6217920" cy="2371725"/>
          </a:xfrm>
        </p:grpSpPr>
        <p:sp>
          <p:nvSpPr>
            <p:cNvPr id="597" name="Google Shape;597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598" name="Google Shape;598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Pendiente de definir (M4) — a evaluar según costo para 4 servicios + 3 bases.</a:t>
              </a:r>
              <a:endParaRPr/>
            </a:p>
          </p:txBody>
        </p:sp>
      </p:grpSp>
      <p:sp>
        <p:nvSpPr>
          <p:cNvPr id="599" name="Google Shape;599;p9"/>
          <p:cNvSpPr/>
          <p:nvPr/>
        </p:nvSpPr>
        <p:spPr>
          <a:xfrm>
            <a:off x="12070080" y="6309360"/>
            <a:ext cx="5212080" cy="2674620"/>
          </a:xfrm>
          <a:custGeom>
            <a:rect b="b" l="l" r="r" t="t"/>
            <a:pathLst>
              <a:path extrusionOk="0" h="3566160" w="694944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6729984" y="0"/>
                </a:lnTo>
                <a:cubicBezTo>
                  <a:pt x="6851142" y="0"/>
                  <a:pt x="6949440" y="98298"/>
                  <a:pt x="6949440" y="219456"/>
                </a:cubicBezTo>
                <a:lnTo>
                  <a:pt x="6949440" y="3346704"/>
                </a:lnTo>
                <a:cubicBezTo>
                  <a:pt x="6949440" y="3467862"/>
                  <a:pt x="6851142" y="3566160"/>
                  <a:pt x="6729984" y="3566160"/>
                </a:cubicBezTo>
                <a:lnTo>
                  <a:pt x="219456" y="3566160"/>
                </a:lnTo>
                <a:cubicBezTo>
                  <a:pt x="98298" y="3566160"/>
                  <a:pt x="0" y="3467862"/>
                  <a:pt x="0" y="3346704"/>
                </a:cubicBezTo>
                <a:close/>
              </a:path>
            </a:pathLst>
          </a:custGeom>
          <a:solidFill>
            <a:srgbClr val="1A5B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9"/>
          <p:cNvGrpSpPr/>
          <p:nvPr/>
        </p:nvGrpSpPr>
        <p:grpSpPr>
          <a:xfrm>
            <a:off x="12371832" y="6479381"/>
            <a:ext cx="4663440" cy="584359"/>
            <a:chOff x="0" y="-47625"/>
            <a:chExt cx="6217920" cy="779145"/>
          </a:xfrm>
        </p:grpSpPr>
        <p:sp>
          <p:nvSpPr>
            <p:cNvPr id="601" name="Google Shape;601;p9"/>
            <p:cNvSpPr/>
            <p:nvPr/>
          </p:nvSpPr>
          <p:spPr>
            <a:xfrm>
              <a:off x="0" y="0"/>
              <a:ext cx="6217920" cy="731520"/>
            </a:xfrm>
            <a:custGeom>
              <a:rect b="b" l="l" r="r" t="t"/>
              <a:pathLst>
                <a:path extrusionOk="0"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5618" l="0" r="0" t="-115618"/>
              </a:stretch>
            </a:blipFill>
            <a:ln>
              <a:noFill/>
            </a:ln>
          </p:spPr>
        </p:sp>
        <p:sp>
          <p:nvSpPr>
            <p:cNvPr id="602" name="Google Shape;602;p9"/>
            <p:cNvSpPr txBox="1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Nodemailer</a:t>
              </a:r>
              <a:endParaRPr/>
            </a:p>
          </p:txBody>
        </p:sp>
      </p:grpSp>
      <p:grpSp>
        <p:nvGrpSpPr>
          <p:cNvPr id="603" name="Google Shape;603;p9"/>
          <p:cNvGrpSpPr/>
          <p:nvPr/>
        </p:nvGrpSpPr>
        <p:grpSpPr>
          <a:xfrm>
            <a:off x="12371832" y="7068026"/>
            <a:ext cx="4663440" cy="1778794"/>
            <a:chOff x="0" y="-85725"/>
            <a:chExt cx="6217920" cy="2371725"/>
          </a:xfrm>
        </p:grpSpPr>
        <p:sp>
          <p:nvSpPr>
            <p:cNvPr id="604" name="Google Shape;604;p9"/>
            <p:cNvSpPr/>
            <p:nvPr/>
          </p:nvSpPr>
          <p:spPr>
            <a:xfrm>
              <a:off x="0" y="0"/>
              <a:ext cx="6217920" cy="2286000"/>
            </a:xfrm>
            <a:custGeom>
              <a:rect b="b" l="l" r="r" t="t"/>
              <a:pathLst>
                <a:path extrusionOk="0" h="22860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99" l="0" r="0" t="-2999"/>
              </a:stretch>
            </a:blipFill>
            <a:ln>
              <a:noFill/>
            </a:ln>
          </p:spPr>
        </p:sp>
        <p:sp>
          <p:nvSpPr>
            <p:cNvPr id="605" name="Google Shape;605;p9"/>
            <p:cNvSpPr txBox="1"/>
            <p:nvPr/>
          </p:nvSpPr>
          <p:spPr>
            <a:xfrm>
              <a:off x="0" y="-85725"/>
              <a:ext cx="6217920" cy="237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Librería de envío de correo usada dentro de identity-service.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5" name="Google Shape;615;p10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6" name="Google Shape;616;p10"/>
          <p:cNvGrpSpPr/>
          <p:nvPr/>
        </p:nvGrpSpPr>
        <p:grpSpPr>
          <a:xfrm>
            <a:off x="191548" y="305402"/>
            <a:ext cx="4227089" cy="584359"/>
            <a:chOff x="0" y="-47625"/>
            <a:chExt cx="5636119" cy="779145"/>
          </a:xfrm>
        </p:grpSpPr>
        <p:sp>
          <p:nvSpPr>
            <p:cNvPr id="617" name="Google Shape;617;p10"/>
            <p:cNvSpPr/>
            <p:nvPr/>
          </p:nvSpPr>
          <p:spPr>
            <a:xfrm>
              <a:off x="0" y="0"/>
              <a:ext cx="5636119" cy="731520"/>
            </a:xfrm>
            <a:custGeom>
              <a:rect b="b" l="l" r="r" t="t"/>
              <a:pathLst>
                <a:path extrusionOk="0" h="731520" w="5636119">
                  <a:moveTo>
                    <a:pt x="0" y="0"/>
                  </a:moveTo>
                  <a:lnTo>
                    <a:pt x="5636119" y="0"/>
                  </a:lnTo>
                  <a:lnTo>
                    <a:pt x="5636119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-224475" t="-437140"/>
              </a:stretch>
            </a:blipFill>
            <a:ln>
              <a:noFill/>
            </a:ln>
          </p:spPr>
        </p:sp>
        <p:sp>
          <p:nvSpPr>
            <p:cNvPr id="618" name="Google Shape;618;p10"/>
            <p:cNvSpPr txBox="1"/>
            <p:nvPr/>
          </p:nvSpPr>
          <p:spPr>
            <a:xfrm>
              <a:off x="0" y="-47625"/>
              <a:ext cx="5636119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DESARROLLO</a:t>
              </a:r>
              <a:endParaRPr/>
            </a:p>
          </p:txBody>
        </p:sp>
      </p:grpSp>
      <p:grpSp>
        <p:nvGrpSpPr>
          <p:cNvPr id="619" name="Google Shape;619;p10"/>
          <p:cNvGrpSpPr/>
          <p:nvPr/>
        </p:nvGrpSpPr>
        <p:grpSpPr>
          <a:xfrm>
            <a:off x="5541993" y="-73216"/>
            <a:ext cx="5602232" cy="1305878"/>
            <a:chOff x="0" y="-95250"/>
            <a:chExt cx="7469643" cy="1741170"/>
          </a:xfrm>
        </p:grpSpPr>
        <p:sp>
          <p:nvSpPr>
            <p:cNvPr id="620" name="Google Shape;620;p10"/>
            <p:cNvSpPr/>
            <p:nvPr/>
          </p:nvSpPr>
          <p:spPr>
            <a:xfrm>
              <a:off x="0" y="0"/>
              <a:ext cx="7469643" cy="1645920"/>
            </a:xfrm>
            <a:custGeom>
              <a:rect b="b" l="l" r="r" t="t"/>
              <a:pathLst>
                <a:path extrusionOk="0" h="1645920" w="7469643">
                  <a:moveTo>
                    <a:pt x="0" y="0"/>
                  </a:moveTo>
                  <a:lnTo>
                    <a:pt x="7469643" y="0"/>
                  </a:lnTo>
                  <a:lnTo>
                    <a:pt x="7469643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-188900" t="-205467"/>
              </a:stretch>
            </a:blipFill>
            <a:ln>
              <a:noFill/>
            </a:ln>
          </p:spPr>
        </p:sp>
        <p:sp>
          <p:nvSpPr>
            <p:cNvPr id="621" name="Google Shape;621;p10"/>
            <p:cNvSpPr txBox="1"/>
            <p:nvPr/>
          </p:nvSpPr>
          <p:spPr>
            <a:xfrm>
              <a:off x="0" y="-95250"/>
              <a:ext cx="7469643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Diagrama de conexión</a:t>
              </a:r>
              <a:endParaRPr/>
            </a:p>
          </p:txBody>
        </p:sp>
      </p:grpSp>
      <p:sp>
        <p:nvSpPr>
          <p:cNvPr id="622" name="Google Shape;622;p10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3" name="Google Shape;623;p10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/home/claude/fase2_final/diagrama_final.png" id="624" name="Google Shape;624;p10"/>
          <p:cNvSpPr/>
          <p:nvPr/>
        </p:nvSpPr>
        <p:spPr>
          <a:xfrm>
            <a:off x="2956032" y="889761"/>
            <a:ext cx="12152551" cy="9277434"/>
          </a:xfrm>
          <a:custGeom>
            <a:rect b="b" l="l" r="r" t="t"/>
            <a:pathLst>
              <a:path extrusionOk="0" h="11448288" w="14996161">
                <a:moveTo>
                  <a:pt x="0" y="0"/>
                </a:moveTo>
                <a:lnTo>
                  <a:pt x="14996161" y="0"/>
                </a:lnTo>
                <a:lnTo>
                  <a:pt x="14996161" y="11448288"/>
                </a:lnTo>
                <a:lnTo>
                  <a:pt x="0" y="11448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8" r="-108" t="0"/>
            </a:stretch>
          </a:blipFill>
          <a:ln>
            <a:noFill/>
          </a:ln>
        </p:spPr>
      </p:sp>
      <p:grpSp>
        <p:nvGrpSpPr>
          <p:cNvPr id="625" name="Google Shape;625;p10"/>
          <p:cNvGrpSpPr/>
          <p:nvPr/>
        </p:nvGrpSpPr>
        <p:grpSpPr>
          <a:xfrm>
            <a:off x="17282160" y="9641205"/>
            <a:ext cx="685800" cy="440055"/>
            <a:chOff x="0" y="-38100"/>
            <a:chExt cx="914400" cy="586740"/>
          </a:xfrm>
        </p:grpSpPr>
        <p:sp>
          <p:nvSpPr>
            <p:cNvPr id="626" name="Google Shape;626;p10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627" name="Google Shape;627;p10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1"/>
          <p:cNvSpPr/>
          <p:nvPr/>
        </p:nvSpPr>
        <p:spPr>
          <a:xfrm>
            <a:off x="-7659540" y="6926580"/>
            <a:ext cx="29545751" cy="7681895"/>
          </a:xfrm>
          <a:custGeom>
            <a:rect b="b" l="l" r="r" t="t"/>
            <a:pathLst>
              <a:path extrusionOk="0" h="7681895" w="29545751">
                <a:moveTo>
                  <a:pt x="0" y="0"/>
                </a:moveTo>
                <a:lnTo>
                  <a:pt x="29545752" y="0"/>
                </a:lnTo>
                <a:lnTo>
                  <a:pt x="29545752" y="7681895"/>
                </a:lnTo>
                <a:lnTo>
                  <a:pt x="0" y="768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7" name="Google Shape;637;p11"/>
          <p:cNvSpPr/>
          <p:nvPr/>
        </p:nvSpPr>
        <p:spPr>
          <a:xfrm rot="5400000">
            <a:off x="-11317232" y="3186303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8" name="Google Shape;638;p11"/>
          <p:cNvSpPr/>
          <p:nvPr/>
        </p:nvSpPr>
        <p:spPr>
          <a:xfrm rot="10800000">
            <a:off x="-2542370" y="-3055554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2" y="0"/>
                </a:lnTo>
                <a:lnTo>
                  <a:pt x="21483182" y="5585628"/>
                </a:lnTo>
                <a:lnTo>
                  <a:pt x="0" y="5585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9" name="Google Shape;639;p11"/>
          <p:cNvGrpSpPr/>
          <p:nvPr/>
        </p:nvGrpSpPr>
        <p:grpSpPr>
          <a:xfrm>
            <a:off x="960120" y="657225"/>
            <a:ext cx="13716000" cy="577215"/>
            <a:chOff x="0" y="-38100"/>
            <a:chExt cx="18288000" cy="769620"/>
          </a:xfrm>
        </p:grpSpPr>
        <p:sp>
          <p:nvSpPr>
            <p:cNvPr id="640" name="Google Shape;640;p11"/>
            <p:cNvSpPr/>
            <p:nvPr/>
          </p:nvSpPr>
          <p:spPr>
            <a:xfrm>
              <a:off x="0" y="0"/>
              <a:ext cx="18288000" cy="731520"/>
            </a:xfrm>
            <a:custGeom>
              <a:rect b="b" l="l" r="r" t="t"/>
              <a:pathLst>
                <a:path extrusionOk="0"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641" name="Google Shape;641;p11"/>
            <p:cNvSpPr txBox="1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49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DESARROLLO</a:t>
              </a:r>
              <a:endParaRPr/>
            </a:p>
          </p:txBody>
        </p:sp>
      </p:grpSp>
      <p:sp>
        <p:nvSpPr>
          <p:cNvPr id="642" name="Google Shape;642;p11"/>
          <p:cNvSpPr/>
          <p:nvPr/>
        </p:nvSpPr>
        <p:spPr>
          <a:xfrm rot="-5400000">
            <a:off x="8034157" y="1683317"/>
            <a:ext cx="21483181" cy="5585627"/>
          </a:xfrm>
          <a:custGeom>
            <a:rect b="b" l="l" r="r" t="t"/>
            <a:pathLst>
              <a:path extrusionOk="0" h="5585627" w="21483181">
                <a:moveTo>
                  <a:pt x="0" y="0"/>
                </a:moveTo>
                <a:lnTo>
                  <a:pt x="21483181" y="0"/>
                </a:lnTo>
                <a:lnTo>
                  <a:pt x="21483181" y="5585627"/>
                </a:lnTo>
                <a:lnTo>
                  <a:pt x="0" y="5585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43" name="Google Shape;643;p11"/>
          <p:cNvGrpSpPr/>
          <p:nvPr/>
        </p:nvGrpSpPr>
        <p:grpSpPr>
          <a:xfrm>
            <a:off x="960120" y="1094423"/>
            <a:ext cx="6873332" cy="1305878"/>
            <a:chOff x="0" y="-95250"/>
            <a:chExt cx="9164443" cy="1741170"/>
          </a:xfrm>
        </p:grpSpPr>
        <p:sp>
          <p:nvSpPr>
            <p:cNvPr id="644" name="Google Shape;644;p11"/>
            <p:cNvSpPr/>
            <p:nvPr/>
          </p:nvSpPr>
          <p:spPr>
            <a:xfrm>
              <a:off x="0" y="0"/>
              <a:ext cx="9164443" cy="1645920"/>
            </a:xfrm>
            <a:custGeom>
              <a:rect b="b" l="l" r="r" t="t"/>
              <a:pathLst>
                <a:path extrusionOk="0" h="1645920" w="9164443">
                  <a:moveTo>
                    <a:pt x="0" y="0"/>
                  </a:moveTo>
                  <a:lnTo>
                    <a:pt x="9164443" y="0"/>
                  </a:lnTo>
                  <a:lnTo>
                    <a:pt x="9164443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5467" l="0" r="-135471" t="-205467"/>
              </a:stretch>
            </a:blipFill>
            <a:ln>
              <a:noFill/>
            </a:ln>
          </p:spPr>
        </p:sp>
        <p:sp>
          <p:nvSpPr>
            <p:cNvPr id="645" name="Google Shape;645;p11"/>
            <p:cNvSpPr txBox="1"/>
            <p:nvPr/>
          </p:nvSpPr>
          <p:spPr>
            <a:xfrm>
              <a:off x="0" y="-95250"/>
              <a:ext cx="9164443" cy="174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E89A0C"/>
                  </a:solidFill>
                  <a:latin typeface="Calibri"/>
                  <a:ea typeface="Calibri"/>
                  <a:cs typeface="Calibri"/>
                  <a:sym typeface="Calibri"/>
                </a:rPr>
                <a:t>¿Por qué microservicios?</a:t>
              </a:r>
              <a:endParaRPr/>
            </a:p>
          </p:txBody>
        </p:sp>
      </p:grpSp>
      <p:sp>
        <p:nvSpPr>
          <p:cNvPr id="646" name="Google Shape;646;p11"/>
          <p:cNvSpPr/>
          <p:nvPr/>
        </p:nvSpPr>
        <p:spPr>
          <a:xfrm>
            <a:off x="960120" y="2468880"/>
            <a:ext cx="16322040" cy="1577340"/>
          </a:xfrm>
          <a:custGeom>
            <a:rect b="b" l="l" r="r" t="t"/>
            <a:pathLst>
              <a:path extrusionOk="0" h="2103120" w="217627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21543263" y="0"/>
                </a:lnTo>
                <a:cubicBezTo>
                  <a:pt x="21664422" y="0"/>
                  <a:pt x="21762720" y="98298"/>
                  <a:pt x="21762720" y="219456"/>
                </a:cubicBezTo>
                <a:lnTo>
                  <a:pt x="21762720" y="1883664"/>
                </a:lnTo>
                <a:cubicBezTo>
                  <a:pt x="21762720" y="2004822"/>
                  <a:pt x="21664422" y="2103120"/>
                  <a:pt x="21543263" y="2103120"/>
                </a:cubicBezTo>
                <a:lnTo>
                  <a:pt x="219456" y="2103120"/>
                </a:lnTo>
                <a:cubicBezTo>
                  <a:pt x="98298" y="2103120"/>
                  <a:pt x="0" y="2004822"/>
                  <a:pt x="0" y="1883664"/>
                </a:cubicBezTo>
                <a:close/>
              </a:path>
            </a:pathLst>
          </a:custGeom>
          <a:solidFill>
            <a:srgbClr val="0034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7" name="Google Shape;647;p11"/>
          <p:cNvGrpSpPr/>
          <p:nvPr/>
        </p:nvGrpSpPr>
        <p:grpSpPr>
          <a:xfrm>
            <a:off x="1371600" y="2646045"/>
            <a:ext cx="15499080" cy="1263015"/>
            <a:chOff x="0" y="-38100"/>
            <a:chExt cx="20665440" cy="1684020"/>
          </a:xfrm>
        </p:grpSpPr>
        <p:sp>
          <p:nvSpPr>
            <p:cNvPr id="648" name="Google Shape;648;p11"/>
            <p:cNvSpPr/>
            <p:nvPr/>
          </p:nvSpPr>
          <p:spPr>
            <a:xfrm>
              <a:off x="0" y="0"/>
              <a:ext cx="20665439" cy="1645920"/>
            </a:xfrm>
            <a:custGeom>
              <a:rect b="b" l="l" r="r" t="t"/>
              <a:pathLst>
                <a:path extrusionOk="0" h="16459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4642" l="0" r="0" t="-194642"/>
              </a:stretch>
            </a:blipFill>
            <a:ln>
              <a:noFill/>
            </a:ln>
          </p:spPr>
        </p:sp>
        <p:sp>
          <p:nvSpPr>
            <p:cNvPr id="649" name="Google Shape;649;p11"/>
            <p:cNvSpPr txBox="1"/>
            <p:nvPr/>
          </p:nvSpPr>
          <p:spPr>
            <a:xfrm>
              <a:off x="0" y="-38100"/>
              <a:ext cx="20665440" cy="1684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Ya migramos - no es un plan a futuro, es el estado actual del repositorio, verificado con 198 tests.</a:t>
              </a:r>
              <a:endParaRPr/>
            </a:p>
          </p:txBody>
        </p:sp>
      </p:grpSp>
      <p:sp>
        <p:nvSpPr>
          <p:cNvPr id="650" name="Google Shape;650;p11"/>
          <p:cNvSpPr/>
          <p:nvPr/>
        </p:nvSpPr>
        <p:spPr>
          <a:xfrm>
            <a:off x="960120" y="4389120"/>
            <a:ext cx="7955280" cy="2125980"/>
          </a:xfrm>
          <a:custGeom>
            <a:rect b="b" l="l" r="r" t="t"/>
            <a:pathLst>
              <a:path extrusionOk="0" h="2834640" w="1060704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0424160" y="0"/>
                </a:lnTo>
                <a:cubicBezTo>
                  <a:pt x="10525125" y="0"/>
                  <a:pt x="10607040" y="81915"/>
                  <a:pt x="10607040" y="182880"/>
                </a:cubicBezTo>
                <a:lnTo>
                  <a:pt x="10607040" y="2651760"/>
                </a:lnTo>
                <a:cubicBezTo>
                  <a:pt x="10607040" y="2752725"/>
                  <a:pt x="10525125" y="2834640"/>
                  <a:pt x="10424160" y="2834640"/>
                </a:cubicBezTo>
                <a:lnTo>
                  <a:pt x="182880" y="2834640"/>
                </a:lnTo>
                <a:cubicBezTo>
                  <a:pt x="81915" y="2834640"/>
                  <a:pt x="0" y="2752725"/>
                  <a:pt x="0" y="2651760"/>
                </a:cubicBezTo>
                <a:close/>
              </a:path>
            </a:pathLst>
          </a:custGeom>
          <a:solidFill>
            <a:srgbClr val="00347A">
              <a:alpha val="941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11"/>
          <p:cNvGrpSpPr/>
          <p:nvPr/>
        </p:nvGrpSpPr>
        <p:grpSpPr>
          <a:xfrm>
            <a:off x="1234440" y="4525137"/>
            <a:ext cx="7406640" cy="577215"/>
            <a:chOff x="0" y="-38100"/>
            <a:chExt cx="9875520" cy="769620"/>
          </a:xfrm>
        </p:grpSpPr>
        <p:sp>
          <p:nvSpPr>
            <p:cNvPr id="652" name="Google Shape;652;p11"/>
            <p:cNvSpPr/>
            <p:nvPr/>
          </p:nvSpPr>
          <p:spPr>
            <a:xfrm>
              <a:off x="0" y="0"/>
              <a:ext cx="9875520" cy="731520"/>
            </a:xfrm>
            <a:custGeom>
              <a:rect b="b" l="l" r="r" t="t"/>
              <a:pathLst>
                <a:path extrusionOk="0"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3047" l="0" r="0" t="-213047"/>
              </a:stretch>
            </a:blipFill>
            <a:ln>
              <a:noFill/>
            </a:ln>
          </p:spPr>
        </p:sp>
        <p:sp>
          <p:nvSpPr>
            <p:cNvPr id="653" name="Google Shape;653;p11"/>
            <p:cNvSpPr txBox="1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Proyección de escalabilidad</a:t>
              </a:r>
              <a:endParaRPr/>
            </a:p>
          </p:txBody>
        </p:sp>
      </p:grpSp>
      <p:grpSp>
        <p:nvGrpSpPr>
          <p:cNvPr id="654" name="Google Shape;654;p11"/>
          <p:cNvGrpSpPr/>
          <p:nvPr/>
        </p:nvGrpSpPr>
        <p:grpSpPr>
          <a:xfrm>
            <a:off x="1234440" y="5045202"/>
            <a:ext cx="7406640" cy="1360170"/>
            <a:chOff x="0" y="-76200"/>
            <a:chExt cx="9875520" cy="1813560"/>
          </a:xfrm>
        </p:grpSpPr>
        <p:sp>
          <p:nvSpPr>
            <p:cNvPr id="655" name="Google Shape;655;p11"/>
            <p:cNvSpPr/>
            <p:nvPr/>
          </p:nvSpPr>
          <p:spPr>
            <a:xfrm>
              <a:off x="0" y="0"/>
              <a:ext cx="9875520" cy="1737360"/>
            </a:xfrm>
            <a:custGeom>
              <a:rect b="b" l="l" r="r" t="t"/>
              <a:pathLst>
                <a:path extrusionOk="0"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0757" l="0" r="0" t="-60757"/>
              </a:stretch>
            </a:blipFill>
            <a:ln>
              <a:noFill/>
            </a:ln>
          </p:spPr>
        </p:sp>
        <p:sp>
          <p:nvSpPr>
            <p:cNvPr id="656" name="Google Shape;656;p11"/>
            <p:cNvSpPr txBox="1"/>
            <p:nvPr/>
          </p:nvSpPr>
          <p:spPr>
            <a:xfrm>
              <a:off x="0" y="-76200"/>
              <a:ext cx="9875520" cy="1813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ENACTIVA puede crecer más allá del piloto — mejor migrar en desarrollo que con datos reales en producción.</a:t>
              </a:r>
              <a:endParaRPr/>
            </a:p>
          </p:txBody>
        </p:sp>
      </p:grpSp>
      <p:sp>
        <p:nvSpPr>
          <p:cNvPr id="657" name="Google Shape;657;p11"/>
          <p:cNvSpPr/>
          <p:nvPr/>
        </p:nvSpPr>
        <p:spPr>
          <a:xfrm>
            <a:off x="9326880" y="4389120"/>
            <a:ext cx="7955280" cy="2125980"/>
          </a:xfrm>
          <a:custGeom>
            <a:rect b="b" l="l" r="r" t="t"/>
            <a:pathLst>
              <a:path extrusionOk="0" h="2834640" w="1060704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0424160" y="0"/>
                </a:lnTo>
                <a:cubicBezTo>
                  <a:pt x="10525125" y="0"/>
                  <a:pt x="10607040" y="81915"/>
                  <a:pt x="10607040" y="182880"/>
                </a:cubicBezTo>
                <a:lnTo>
                  <a:pt x="10607040" y="2651760"/>
                </a:lnTo>
                <a:cubicBezTo>
                  <a:pt x="10607040" y="2752725"/>
                  <a:pt x="10525125" y="2834640"/>
                  <a:pt x="10424160" y="2834640"/>
                </a:cubicBezTo>
                <a:lnTo>
                  <a:pt x="182880" y="2834640"/>
                </a:lnTo>
                <a:cubicBezTo>
                  <a:pt x="81915" y="2834640"/>
                  <a:pt x="0" y="2752725"/>
                  <a:pt x="0" y="2651760"/>
                </a:cubicBezTo>
                <a:close/>
              </a:path>
            </a:pathLst>
          </a:custGeom>
          <a:solidFill>
            <a:srgbClr val="00347A">
              <a:alpha val="941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8" name="Google Shape;658;p11"/>
          <p:cNvGrpSpPr/>
          <p:nvPr/>
        </p:nvGrpSpPr>
        <p:grpSpPr>
          <a:xfrm>
            <a:off x="9601200" y="4525137"/>
            <a:ext cx="7406640" cy="577215"/>
            <a:chOff x="0" y="-38100"/>
            <a:chExt cx="9875520" cy="769620"/>
          </a:xfrm>
        </p:grpSpPr>
        <p:sp>
          <p:nvSpPr>
            <p:cNvPr id="659" name="Google Shape;659;p11"/>
            <p:cNvSpPr/>
            <p:nvPr/>
          </p:nvSpPr>
          <p:spPr>
            <a:xfrm>
              <a:off x="0" y="0"/>
              <a:ext cx="9875520" cy="731520"/>
            </a:xfrm>
            <a:custGeom>
              <a:rect b="b" l="l" r="r" t="t"/>
              <a:pathLst>
                <a:path extrusionOk="0"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3047" l="0" r="0" t="-213047"/>
              </a:stretch>
            </a:blipFill>
            <a:ln>
              <a:noFill/>
            </a:ln>
          </p:spPr>
        </p:sp>
        <p:sp>
          <p:nvSpPr>
            <p:cNvPr id="660" name="Google Shape;660;p11"/>
            <p:cNvSpPr txBox="1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Migración en 3 fases verificables</a:t>
              </a:r>
              <a:endParaRPr/>
            </a:p>
          </p:txBody>
        </p:sp>
      </p:grpSp>
      <p:grpSp>
        <p:nvGrpSpPr>
          <p:cNvPr id="661" name="Google Shape;661;p11"/>
          <p:cNvGrpSpPr/>
          <p:nvPr/>
        </p:nvGrpSpPr>
        <p:grpSpPr>
          <a:xfrm>
            <a:off x="9601200" y="5045202"/>
            <a:ext cx="7406640" cy="1360170"/>
            <a:chOff x="0" y="-76200"/>
            <a:chExt cx="9875520" cy="1813560"/>
          </a:xfrm>
        </p:grpSpPr>
        <p:sp>
          <p:nvSpPr>
            <p:cNvPr id="662" name="Google Shape;662;p11"/>
            <p:cNvSpPr/>
            <p:nvPr/>
          </p:nvSpPr>
          <p:spPr>
            <a:xfrm>
              <a:off x="0" y="0"/>
              <a:ext cx="9875520" cy="1737360"/>
            </a:xfrm>
            <a:custGeom>
              <a:rect b="b" l="l" r="r" t="t"/>
              <a:pathLst>
                <a:path extrusionOk="0"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0757" l="0" r="0" t="-60757"/>
              </a:stretch>
            </a:blipFill>
            <a:ln>
              <a:noFill/>
            </a:ln>
          </p:spPr>
        </p:sp>
        <p:sp>
          <p:nvSpPr>
            <p:cNvPr id="663" name="Google Shape;663;p11"/>
            <p:cNvSpPr txBox="1"/>
            <p:nvPr/>
          </p:nvSpPr>
          <p:spPr>
            <a:xfrm>
              <a:off x="0" y="-76200"/>
              <a:ext cx="9875520" cy="1813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M0 (estructura), M1 (mover lógica), M2 (gateway) — cada una su propia PR, sistema funcionando al cierre de cada una.</a:t>
              </a:r>
              <a:endParaRPr/>
            </a:p>
          </p:txBody>
        </p:sp>
      </p:grpSp>
      <p:sp>
        <p:nvSpPr>
          <p:cNvPr id="664" name="Google Shape;664;p11"/>
          <p:cNvSpPr/>
          <p:nvPr/>
        </p:nvSpPr>
        <p:spPr>
          <a:xfrm>
            <a:off x="960120" y="6789420"/>
            <a:ext cx="7955280" cy="2125980"/>
          </a:xfrm>
          <a:custGeom>
            <a:rect b="b" l="l" r="r" t="t"/>
            <a:pathLst>
              <a:path extrusionOk="0" h="2834640" w="1060704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0424160" y="0"/>
                </a:lnTo>
                <a:cubicBezTo>
                  <a:pt x="10525125" y="0"/>
                  <a:pt x="10607040" y="81915"/>
                  <a:pt x="10607040" y="182880"/>
                </a:cubicBezTo>
                <a:lnTo>
                  <a:pt x="10607040" y="2651760"/>
                </a:lnTo>
                <a:cubicBezTo>
                  <a:pt x="10607040" y="2752725"/>
                  <a:pt x="10525125" y="2834640"/>
                  <a:pt x="10424160" y="2834640"/>
                </a:cubicBezTo>
                <a:lnTo>
                  <a:pt x="182880" y="2834640"/>
                </a:lnTo>
                <a:cubicBezTo>
                  <a:pt x="81915" y="2834640"/>
                  <a:pt x="0" y="2752725"/>
                  <a:pt x="0" y="2651760"/>
                </a:cubicBezTo>
                <a:close/>
              </a:path>
            </a:pathLst>
          </a:custGeom>
          <a:solidFill>
            <a:srgbClr val="00347A">
              <a:alpha val="941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11"/>
          <p:cNvGrpSpPr/>
          <p:nvPr/>
        </p:nvGrpSpPr>
        <p:grpSpPr>
          <a:xfrm>
            <a:off x="1234440" y="6925437"/>
            <a:ext cx="7406640" cy="577215"/>
            <a:chOff x="0" y="-38100"/>
            <a:chExt cx="9875520" cy="769620"/>
          </a:xfrm>
        </p:grpSpPr>
        <p:sp>
          <p:nvSpPr>
            <p:cNvPr id="666" name="Google Shape;666;p11"/>
            <p:cNvSpPr/>
            <p:nvPr/>
          </p:nvSpPr>
          <p:spPr>
            <a:xfrm>
              <a:off x="0" y="0"/>
              <a:ext cx="9875520" cy="731520"/>
            </a:xfrm>
            <a:custGeom>
              <a:rect b="b" l="l" r="r" t="t"/>
              <a:pathLst>
                <a:path extrusionOk="0"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3047" l="0" r="0" t="-213047"/>
              </a:stretch>
            </a:blipFill>
            <a:ln>
              <a:noFill/>
            </a:ln>
          </p:spPr>
        </p:sp>
        <p:sp>
          <p:nvSpPr>
            <p:cNvPr id="667" name="Google Shape;667;p11"/>
            <p:cNvSpPr txBox="1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Aislamiento de fallos</a:t>
              </a:r>
              <a:endParaRPr/>
            </a:p>
          </p:txBody>
        </p:sp>
      </p:grpSp>
      <p:grpSp>
        <p:nvGrpSpPr>
          <p:cNvPr id="668" name="Google Shape;668;p11"/>
          <p:cNvGrpSpPr/>
          <p:nvPr/>
        </p:nvGrpSpPr>
        <p:grpSpPr>
          <a:xfrm>
            <a:off x="1234440" y="7445502"/>
            <a:ext cx="7406640" cy="1360170"/>
            <a:chOff x="0" y="-76200"/>
            <a:chExt cx="9875520" cy="1813560"/>
          </a:xfrm>
        </p:grpSpPr>
        <p:sp>
          <p:nvSpPr>
            <p:cNvPr id="669" name="Google Shape;669;p11"/>
            <p:cNvSpPr/>
            <p:nvPr/>
          </p:nvSpPr>
          <p:spPr>
            <a:xfrm>
              <a:off x="0" y="0"/>
              <a:ext cx="9875520" cy="1737360"/>
            </a:xfrm>
            <a:custGeom>
              <a:rect b="b" l="l" r="r" t="t"/>
              <a:pathLst>
                <a:path extrusionOk="0"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0757" l="0" r="0" t="-60757"/>
              </a:stretch>
            </a:blipFill>
            <a:ln>
              <a:noFill/>
            </a:ln>
          </p:spPr>
        </p:sp>
        <p:sp>
          <p:nvSpPr>
            <p:cNvPr id="670" name="Google Shape;670;p11"/>
            <p:cNvSpPr txBox="1"/>
            <p:nvPr/>
          </p:nvSpPr>
          <p:spPr>
            <a:xfrm>
              <a:off x="0" y="-76200"/>
              <a:ext cx="9875520" cy="1813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Un problema en un servicio no tumba login, empresas ni el resto de la plataforma.</a:t>
              </a:r>
              <a:endParaRPr/>
            </a:p>
          </p:txBody>
        </p:sp>
      </p:grpSp>
      <p:sp>
        <p:nvSpPr>
          <p:cNvPr id="671" name="Google Shape;671;p11"/>
          <p:cNvSpPr/>
          <p:nvPr/>
        </p:nvSpPr>
        <p:spPr>
          <a:xfrm>
            <a:off x="9326880" y="6789420"/>
            <a:ext cx="7955280" cy="2125980"/>
          </a:xfrm>
          <a:custGeom>
            <a:rect b="b" l="l" r="r" t="t"/>
            <a:pathLst>
              <a:path extrusionOk="0" h="2834640" w="1060704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10424160" y="0"/>
                </a:lnTo>
                <a:cubicBezTo>
                  <a:pt x="10525125" y="0"/>
                  <a:pt x="10607040" y="81915"/>
                  <a:pt x="10607040" y="182880"/>
                </a:cubicBezTo>
                <a:lnTo>
                  <a:pt x="10607040" y="2651760"/>
                </a:lnTo>
                <a:cubicBezTo>
                  <a:pt x="10607040" y="2752725"/>
                  <a:pt x="10525125" y="2834640"/>
                  <a:pt x="10424160" y="2834640"/>
                </a:cubicBezTo>
                <a:lnTo>
                  <a:pt x="182880" y="2834640"/>
                </a:lnTo>
                <a:cubicBezTo>
                  <a:pt x="81915" y="2834640"/>
                  <a:pt x="0" y="2752725"/>
                  <a:pt x="0" y="2651760"/>
                </a:cubicBezTo>
                <a:close/>
              </a:path>
            </a:pathLst>
          </a:custGeom>
          <a:solidFill>
            <a:srgbClr val="00347A">
              <a:alpha val="941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11"/>
          <p:cNvGrpSpPr/>
          <p:nvPr/>
        </p:nvGrpSpPr>
        <p:grpSpPr>
          <a:xfrm>
            <a:off x="9601200" y="6925437"/>
            <a:ext cx="7406640" cy="577215"/>
            <a:chOff x="0" y="-38100"/>
            <a:chExt cx="9875520" cy="769620"/>
          </a:xfrm>
        </p:grpSpPr>
        <p:sp>
          <p:nvSpPr>
            <p:cNvPr id="673" name="Google Shape;673;p11"/>
            <p:cNvSpPr/>
            <p:nvPr/>
          </p:nvSpPr>
          <p:spPr>
            <a:xfrm>
              <a:off x="0" y="0"/>
              <a:ext cx="9875520" cy="731520"/>
            </a:xfrm>
            <a:custGeom>
              <a:rect b="b" l="l" r="r" t="t"/>
              <a:pathLst>
                <a:path extrusionOk="0"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3047" l="0" r="0" t="-213047"/>
              </a:stretch>
            </a:blipFill>
            <a:ln>
              <a:noFill/>
            </a:ln>
          </p:spPr>
        </p:sp>
        <p:sp>
          <p:nvSpPr>
            <p:cNvPr id="674" name="Google Shape;674;p11"/>
            <p:cNvSpPr txBox="1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00347A"/>
                  </a:solidFill>
                  <a:latin typeface="Calibri"/>
                  <a:ea typeface="Calibri"/>
                  <a:cs typeface="Calibri"/>
                  <a:sym typeface="Calibri"/>
                </a:rPr>
                <a:t>Riesgo mitigado por diseño</a:t>
              </a:r>
              <a:endParaRPr/>
            </a:p>
          </p:txBody>
        </p:sp>
      </p:grpSp>
      <p:grpSp>
        <p:nvGrpSpPr>
          <p:cNvPr id="675" name="Google Shape;675;p11"/>
          <p:cNvGrpSpPr/>
          <p:nvPr/>
        </p:nvGrpSpPr>
        <p:grpSpPr>
          <a:xfrm>
            <a:off x="9601200" y="7445502"/>
            <a:ext cx="7406640" cy="1360170"/>
            <a:chOff x="0" y="-76200"/>
            <a:chExt cx="9875520" cy="1813560"/>
          </a:xfrm>
        </p:grpSpPr>
        <p:sp>
          <p:nvSpPr>
            <p:cNvPr id="676" name="Google Shape;676;p11"/>
            <p:cNvSpPr/>
            <p:nvPr/>
          </p:nvSpPr>
          <p:spPr>
            <a:xfrm>
              <a:off x="0" y="0"/>
              <a:ext cx="9875520" cy="1737360"/>
            </a:xfrm>
            <a:custGeom>
              <a:rect b="b" l="l" r="r" t="t"/>
              <a:pathLst>
                <a:path extrusionOk="0"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0757" l="0" r="0" t="-60757"/>
              </a:stretch>
            </a:blipFill>
            <a:ln>
              <a:noFill/>
            </a:ln>
          </p:spPr>
        </p:sp>
        <p:sp>
          <p:nvSpPr>
            <p:cNvPr id="677" name="Google Shape;677;p11"/>
            <p:cNvSpPr txBox="1"/>
            <p:nvPr/>
          </p:nvSpPr>
          <p:spPr>
            <a:xfrm>
              <a:off x="0" y="-76200"/>
              <a:ext cx="9875520" cy="1813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4" u="none" cap="none" strike="noStrike">
                  <a:solidFill>
                    <a:srgbClr val="12213D"/>
                  </a:solidFill>
                  <a:latin typeface="Calibri"/>
                  <a:ea typeface="Calibri"/>
                  <a:cs typeface="Calibri"/>
                  <a:sym typeface="Calibri"/>
                </a:rPr>
                <a:t>Solo 4 servicios; identity agrupa lo que necesita transacciones atómicas; auth-service sin base propia para no partir el modelo de Usuario en dos.</a:t>
              </a:r>
              <a:endParaRPr/>
            </a:p>
          </p:txBody>
        </p:sp>
      </p:grpSp>
      <p:grpSp>
        <p:nvGrpSpPr>
          <p:cNvPr id="678" name="Google Shape;678;p11"/>
          <p:cNvGrpSpPr/>
          <p:nvPr/>
        </p:nvGrpSpPr>
        <p:grpSpPr>
          <a:xfrm>
            <a:off x="17282160" y="9641205"/>
            <a:ext cx="685800" cy="440055"/>
            <a:chOff x="0" y="-38100"/>
            <a:chExt cx="914400" cy="586740"/>
          </a:xfrm>
        </p:grpSpPr>
        <p:sp>
          <p:nvSpPr>
            <p:cNvPr id="679" name="Google Shape;679;p11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680" name="Google Shape;680;p11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69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4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2"/>
          <p:cNvSpPr/>
          <p:nvPr/>
        </p:nvSpPr>
        <p:spPr>
          <a:xfrm>
            <a:off x="-2743200" y="-3429000"/>
            <a:ext cx="8229600" cy="8229600"/>
          </a:xfrm>
          <a:custGeom>
            <a:rect b="b" l="l" r="r" t="t"/>
            <a:pathLst>
              <a:path extrusionOk="0" h="10972800" w="10972800">
                <a:moveTo>
                  <a:pt x="0" y="5486400"/>
                </a:moveTo>
                <a:cubicBezTo>
                  <a:pt x="0" y="2456307"/>
                  <a:pt x="2456307" y="0"/>
                  <a:pt x="5486400" y="0"/>
                </a:cubicBezTo>
                <a:cubicBezTo>
                  <a:pt x="8516493" y="0"/>
                  <a:pt x="10972800" y="2456307"/>
                  <a:pt x="10972800" y="5486400"/>
                </a:cubicBezTo>
                <a:cubicBezTo>
                  <a:pt x="10972800" y="8516493"/>
                  <a:pt x="8516493" y="10972800"/>
                  <a:pt x="5486400" y="10972800"/>
                </a:cubicBezTo>
                <a:cubicBezTo>
                  <a:pt x="2456307" y="10972800"/>
                  <a:pt x="0" y="8516493"/>
                  <a:pt x="0" y="5486400"/>
                </a:cubicBezTo>
                <a:close/>
              </a:path>
            </a:pathLst>
          </a:custGeom>
          <a:solidFill>
            <a:srgbClr val="00347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12"/>
          <p:cNvGrpSpPr/>
          <p:nvPr/>
        </p:nvGrpSpPr>
        <p:grpSpPr>
          <a:xfrm>
            <a:off x="1234440" y="2021681"/>
            <a:ext cx="13716000" cy="721519"/>
            <a:chOff x="0" y="-47625"/>
            <a:chExt cx="18288000" cy="962025"/>
          </a:xfrm>
        </p:grpSpPr>
        <p:sp>
          <p:nvSpPr>
            <p:cNvPr id="691" name="Google Shape;691;p12"/>
            <p:cNvSpPr/>
            <p:nvPr/>
          </p:nvSpPr>
          <p:spPr>
            <a:xfrm>
              <a:off x="0" y="0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692" name="Google Shape;692;p12"/>
            <p:cNvSpPr txBox="1"/>
            <p:nvPr/>
          </p:nvSpPr>
          <p:spPr>
            <a:xfrm>
              <a:off x="0" y="-47625"/>
              <a:ext cx="182880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B627"/>
                  </a:solidFill>
                  <a:latin typeface="Calibri"/>
                  <a:ea typeface="Calibri"/>
                  <a:cs typeface="Calibri"/>
                  <a:sym typeface="Calibri"/>
                </a:rPr>
                <a:t>Metodología → TRL → Arquitectura</a:t>
              </a:r>
              <a:endParaRPr/>
            </a:p>
          </p:txBody>
        </p:sp>
      </p:grpSp>
      <p:grpSp>
        <p:nvGrpSpPr>
          <p:cNvPr id="693" name="Google Shape;693;p12"/>
          <p:cNvGrpSpPr/>
          <p:nvPr/>
        </p:nvGrpSpPr>
        <p:grpSpPr>
          <a:xfrm>
            <a:off x="1234440" y="2671763"/>
            <a:ext cx="15087600" cy="1443038"/>
            <a:chOff x="0" y="-95250"/>
            <a:chExt cx="20116800" cy="1924050"/>
          </a:xfrm>
        </p:grpSpPr>
        <p:sp>
          <p:nvSpPr>
            <p:cNvPr id="694" name="Google Shape;694;p12"/>
            <p:cNvSpPr/>
            <p:nvPr/>
          </p:nvSpPr>
          <p:spPr>
            <a:xfrm>
              <a:off x="0" y="0"/>
              <a:ext cx="20116800" cy="1828800"/>
            </a:xfrm>
            <a:custGeom>
              <a:rect b="b" l="l" r="r" t="t"/>
              <a:pathLst>
                <a:path extrusionOk="0" h="18288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4335" l="0" r="0" t="-164335"/>
              </a:stretch>
            </a:blipFill>
            <a:ln>
              <a:noFill/>
            </a:ln>
          </p:spPr>
        </p:sp>
        <p:sp>
          <p:nvSpPr>
            <p:cNvPr id="695" name="Google Shape;695;p12"/>
            <p:cNvSpPr txBox="1"/>
            <p:nvPr/>
          </p:nvSpPr>
          <p:spPr>
            <a:xfrm>
              <a:off x="0" y="-95250"/>
              <a:ext cx="20116800" cy="192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Tres decisiones conectadas — y ya en ejecución</a:t>
              </a:r>
              <a:endParaRPr/>
            </a:p>
          </p:txBody>
        </p:sp>
      </p:grpSp>
      <p:grpSp>
        <p:nvGrpSpPr>
          <p:cNvPr id="696" name="Google Shape;696;p12"/>
          <p:cNvGrpSpPr/>
          <p:nvPr/>
        </p:nvGrpSpPr>
        <p:grpSpPr>
          <a:xfrm>
            <a:off x="1234440" y="4483418"/>
            <a:ext cx="1378685" cy="865822"/>
            <a:chOff x="0" y="-57150"/>
            <a:chExt cx="1838247" cy="1154430"/>
          </a:xfrm>
        </p:grpSpPr>
        <p:sp>
          <p:nvSpPr>
            <p:cNvPr id="697" name="Google Shape;697;p12"/>
            <p:cNvSpPr/>
            <p:nvPr/>
          </p:nvSpPr>
          <p:spPr>
            <a:xfrm>
              <a:off x="0" y="0"/>
              <a:ext cx="1838247" cy="1097280"/>
            </a:xfrm>
            <a:custGeom>
              <a:rect b="b" l="l" r="r" t="t"/>
              <a:pathLst>
                <a:path extrusionOk="0" h="1097280" w="1838247">
                  <a:moveTo>
                    <a:pt x="0" y="0"/>
                  </a:moveTo>
                  <a:lnTo>
                    <a:pt x="1838247" y="0"/>
                  </a:lnTo>
                  <a:lnTo>
                    <a:pt x="1838247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34" l="0" r="-158665" t="-34434"/>
              </a:stretch>
            </a:blipFill>
            <a:ln>
              <a:noFill/>
            </a:ln>
          </p:spPr>
        </p:sp>
        <p:sp>
          <p:nvSpPr>
            <p:cNvPr id="698" name="Google Shape;698;p12"/>
            <p:cNvSpPr txBox="1"/>
            <p:nvPr/>
          </p:nvSpPr>
          <p:spPr>
            <a:xfrm>
              <a:off x="0" y="-57150"/>
              <a:ext cx="1838247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Scrum</a:t>
              </a:r>
              <a:endParaRPr/>
            </a:p>
          </p:txBody>
        </p:sp>
      </p:grpSp>
      <p:grpSp>
        <p:nvGrpSpPr>
          <p:cNvPr id="699" name="Google Shape;699;p12"/>
          <p:cNvGrpSpPr/>
          <p:nvPr/>
        </p:nvGrpSpPr>
        <p:grpSpPr>
          <a:xfrm>
            <a:off x="4937760" y="4490561"/>
            <a:ext cx="12344400" cy="858679"/>
            <a:chOff x="0" y="-47625"/>
            <a:chExt cx="16459200" cy="1144905"/>
          </a:xfrm>
        </p:grpSpPr>
        <p:sp>
          <p:nvSpPr>
            <p:cNvPr id="700" name="Google Shape;700;p12"/>
            <p:cNvSpPr/>
            <p:nvPr/>
          </p:nvSpPr>
          <p:spPr>
            <a:xfrm>
              <a:off x="0" y="0"/>
              <a:ext cx="16459200" cy="1097280"/>
            </a:xfrm>
            <a:custGeom>
              <a:rect b="b" l="l" r="r" t="t"/>
              <a:pathLst>
                <a:path extrusionOk="0"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701" name="Google Shape;701;p12"/>
            <p:cNvSpPr txBox="1"/>
            <p:nvPr/>
          </p:nvSpPr>
          <p:spPr>
            <a:xfrm>
              <a:off x="0" y="-47625"/>
              <a:ext cx="1645920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→ 4 de 9 sprints ejecutados, verificables por Pull Request en GitHub</a:t>
              </a:r>
              <a:endParaRPr/>
            </a:p>
          </p:txBody>
        </p:sp>
      </p:grpSp>
      <p:grpSp>
        <p:nvGrpSpPr>
          <p:cNvPr id="702" name="Google Shape;702;p12"/>
          <p:cNvGrpSpPr/>
          <p:nvPr/>
        </p:nvGrpSpPr>
        <p:grpSpPr>
          <a:xfrm>
            <a:off x="1234440" y="5649278"/>
            <a:ext cx="1783080" cy="865822"/>
            <a:chOff x="0" y="-57150"/>
            <a:chExt cx="2377440" cy="1154430"/>
          </a:xfrm>
        </p:grpSpPr>
        <p:sp>
          <p:nvSpPr>
            <p:cNvPr id="703" name="Google Shape;703;p12"/>
            <p:cNvSpPr/>
            <p:nvPr/>
          </p:nvSpPr>
          <p:spPr>
            <a:xfrm>
              <a:off x="0" y="0"/>
              <a:ext cx="2377440" cy="1097280"/>
            </a:xfrm>
            <a:custGeom>
              <a:rect b="b" l="l" r="r" t="t"/>
              <a:pathLst>
                <a:path extrusionOk="0" h="10972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34" l="0" r="-100000" t="-34434"/>
              </a:stretch>
            </a:blipFill>
            <a:ln>
              <a:noFill/>
            </a:ln>
          </p:spPr>
        </p:sp>
        <p:sp>
          <p:nvSpPr>
            <p:cNvPr id="704" name="Google Shape;704;p12"/>
            <p:cNvSpPr txBox="1"/>
            <p:nvPr/>
          </p:nvSpPr>
          <p:spPr>
            <a:xfrm>
              <a:off x="0" y="-57150"/>
              <a:ext cx="237744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TRL 4 → 6</a:t>
              </a:r>
              <a:endParaRPr/>
            </a:p>
          </p:txBody>
        </p:sp>
      </p:grpSp>
      <p:grpSp>
        <p:nvGrpSpPr>
          <p:cNvPr id="705" name="Google Shape;705;p12"/>
          <p:cNvGrpSpPr/>
          <p:nvPr/>
        </p:nvGrpSpPr>
        <p:grpSpPr>
          <a:xfrm>
            <a:off x="4937760" y="5656421"/>
            <a:ext cx="12344400" cy="858679"/>
            <a:chOff x="0" y="-47625"/>
            <a:chExt cx="16459200" cy="1144905"/>
          </a:xfrm>
        </p:grpSpPr>
        <p:sp>
          <p:nvSpPr>
            <p:cNvPr id="706" name="Google Shape;706;p12"/>
            <p:cNvSpPr/>
            <p:nvPr/>
          </p:nvSpPr>
          <p:spPr>
            <a:xfrm>
              <a:off x="0" y="0"/>
              <a:ext cx="16459200" cy="1097280"/>
            </a:xfrm>
            <a:custGeom>
              <a:rect b="b" l="l" r="r" t="t"/>
              <a:pathLst>
                <a:path extrusionOk="0"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707" name="Google Shape;707;p12"/>
            <p:cNvSpPr txBox="1"/>
            <p:nvPr/>
          </p:nvSpPr>
          <p:spPr>
            <a:xfrm>
              <a:off x="0" y="-47625"/>
              <a:ext cx="1645920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→ subimos un nivel real con la migración; la meta se ajusta con honestidad si no hay piloto externo</a:t>
              </a:r>
              <a:endParaRPr/>
            </a:p>
          </p:txBody>
        </p:sp>
      </p:grpSp>
      <p:grpSp>
        <p:nvGrpSpPr>
          <p:cNvPr id="708" name="Google Shape;708;p12"/>
          <p:cNvGrpSpPr/>
          <p:nvPr/>
        </p:nvGrpSpPr>
        <p:grpSpPr>
          <a:xfrm>
            <a:off x="1234440" y="6815138"/>
            <a:ext cx="2073356" cy="865823"/>
            <a:chOff x="0" y="-57150"/>
            <a:chExt cx="2764475" cy="1154430"/>
          </a:xfrm>
        </p:grpSpPr>
        <p:sp>
          <p:nvSpPr>
            <p:cNvPr id="709" name="Google Shape;709;p12"/>
            <p:cNvSpPr/>
            <p:nvPr/>
          </p:nvSpPr>
          <p:spPr>
            <a:xfrm>
              <a:off x="0" y="0"/>
              <a:ext cx="2764475" cy="1097280"/>
            </a:xfrm>
            <a:custGeom>
              <a:rect b="b" l="l" r="r" t="t"/>
              <a:pathLst>
                <a:path extrusionOk="0" h="1097280" w="2764475">
                  <a:moveTo>
                    <a:pt x="0" y="0"/>
                  </a:moveTo>
                  <a:lnTo>
                    <a:pt x="2764475" y="0"/>
                  </a:lnTo>
                  <a:lnTo>
                    <a:pt x="2764475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34" l="0" r="-71999" t="-34434"/>
              </a:stretch>
            </a:blipFill>
            <a:ln>
              <a:noFill/>
            </a:ln>
          </p:spPr>
        </p:sp>
        <p:sp>
          <p:nvSpPr>
            <p:cNvPr id="710" name="Google Shape;710;p12"/>
            <p:cNvSpPr txBox="1"/>
            <p:nvPr/>
          </p:nvSpPr>
          <p:spPr>
            <a:xfrm>
              <a:off x="0" y="-57150"/>
              <a:ext cx="2764475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DCE7FA"/>
                  </a:solidFill>
                  <a:latin typeface="Calibri"/>
                  <a:ea typeface="Calibri"/>
                  <a:cs typeface="Calibri"/>
                  <a:sym typeface="Calibri"/>
                </a:rPr>
                <a:t>Microservicios</a:t>
              </a:r>
              <a:endParaRPr/>
            </a:p>
          </p:txBody>
        </p:sp>
      </p:grpSp>
      <p:grpSp>
        <p:nvGrpSpPr>
          <p:cNvPr id="711" name="Google Shape;711;p12"/>
          <p:cNvGrpSpPr/>
          <p:nvPr/>
        </p:nvGrpSpPr>
        <p:grpSpPr>
          <a:xfrm>
            <a:off x="4937760" y="6822281"/>
            <a:ext cx="12344400" cy="858679"/>
            <a:chOff x="0" y="-47625"/>
            <a:chExt cx="16459200" cy="1144905"/>
          </a:xfrm>
        </p:grpSpPr>
        <p:sp>
          <p:nvSpPr>
            <p:cNvPr id="712" name="Google Shape;712;p12"/>
            <p:cNvSpPr/>
            <p:nvPr/>
          </p:nvSpPr>
          <p:spPr>
            <a:xfrm>
              <a:off x="0" y="0"/>
              <a:ext cx="16459200" cy="1097280"/>
            </a:xfrm>
            <a:custGeom>
              <a:rect b="b" l="l" r="r" t="t"/>
              <a:pathLst>
                <a:path extrusionOk="0"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713" name="Google Shape;713;p12"/>
            <p:cNvSpPr txBox="1"/>
            <p:nvPr/>
          </p:nvSpPr>
          <p:spPr>
            <a:xfrm>
              <a:off x="0" y="-47625"/>
              <a:ext cx="1645920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→ migración completa (M0-M2), 198 tests en verde, ya demostrado en vivo a la clienta</a:t>
              </a:r>
              <a:endParaRPr/>
            </a:p>
          </p:txBody>
        </p:sp>
      </p:grpSp>
      <p:grpSp>
        <p:nvGrpSpPr>
          <p:cNvPr id="714" name="Google Shape;714;p12"/>
          <p:cNvGrpSpPr/>
          <p:nvPr/>
        </p:nvGrpSpPr>
        <p:grpSpPr>
          <a:xfrm>
            <a:off x="1234440" y="8735378"/>
            <a:ext cx="13716000" cy="865823"/>
            <a:chOff x="0" y="-57150"/>
            <a:chExt cx="18288000" cy="1154430"/>
          </a:xfrm>
        </p:grpSpPr>
        <p:sp>
          <p:nvSpPr>
            <p:cNvPr id="715" name="Google Shape;715;p12"/>
            <p:cNvSpPr/>
            <p:nvPr/>
          </p:nvSpPr>
          <p:spPr>
            <a:xfrm>
              <a:off x="0" y="0"/>
              <a:ext cx="18288000" cy="1097280"/>
            </a:xfrm>
            <a:custGeom>
              <a:rect b="b" l="l" r="r" t="t"/>
              <a:pathLst>
                <a:path extrusionOk="0"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4760" l="0" r="0" t="-274760"/>
              </a:stretch>
            </a:blipFill>
            <a:ln>
              <a:noFill/>
            </a:ln>
          </p:spPr>
        </p:sp>
        <p:sp>
          <p:nvSpPr>
            <p:cNvPr id="716" name="Google Shape;716;p12"/>
            <p:cNvSpPr txBox="1"/>
            <p:nvPr/>
          </p:nvSpPr>
          <p:spPr>
            <a:xfrm>
              <a:off x="0" y="-57150"/>
              <a:ext cx="18288000" cy="1154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B627"/>
                  </a:solidFill>
                  <a:latin typeface="Calibri"/>
                  <a:ea typeface="Calibri"/>
                  <a:cs typeface="Calibri"/>
                  <a:sym typeface="Calibri"/>
                </a:rPr>
                <a:t>Gracias — quedamos atentos a su retroalimentación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